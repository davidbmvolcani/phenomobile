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68" r:id="rId19"/>
  </p:sldIdLst>
  <p:sldSz cx="12192000" cy="685800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632" y="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716DA-7C5B-49C8-9E2C-49D4AC2D54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C87DE0-04B5-4C38-91F2-5385B964FE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BF558-0A70-4EDE-9431-50782D909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CCF04-8CF0-4E36-8BA4-B3428484C0CB}" type="datetimeFigureOut">
              <a:rPr lang="he-IL" smtClean="0"/>
              <a:t>י"א/טבת/תשפ"ו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8D16A-45B8-4CB5-ABF1-A02CD2C0D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0CEE3E-B565-408F-9762-E2D84C4A0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C240-F336-4EB4-981C-707E0B6BDAE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9760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72F50-B751-458C-8DCA-DA5AA0C3A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1E285-D81B-4AA7-B792-1FFAAA729B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2B7E3-B618-43B2-8257-5CD2D6D21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CCF04-8CF0-4E36-8BA4-B3428484C0CB}" type="datetimeFigureOut">
              <a:rPr lang="he-IL" smtClean="0"/>
              <a:t>י"א/טבת/תשפ"ו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55535D-C2E8-4FDB-AA9A-FB183E249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F6120B-5D75-4A95-AAFC-055CAC0C7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C240-F336-4EB4-981C-707E0B6BDAE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97137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93A18-A628-4DF8-B168-A4EDBCB64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FB289B-45B2-4DB7-A0A9-C4A15D80AA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F26C51-ACF8-48C6-BAAA-EE4A864B8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CCF04-8CF0-4E36-8BA4-B3428484C0CB}" type="datetimeFigureOut">
              <a:rPr lang="he-IL" smtClean="0"/>
              <a:t>י"א/טבת/תשפ"ו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A6EF2B-FE36-416F-B634-D2B7E99B7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347518-E68F-449C-A713-754B26F8E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C240-F336-4EB4-981C-707E0B6BDAE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68262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E3DA7-338B-4866-A1B0-87951F876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BCCD5-3427-4736-B591-3ED709A08D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087771-C40E-49DF-89B1-5875524571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B6D091-8088-4175-8D3F-385D83100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CCF04-8CF0-4E36-8BA4-B3428484C0CB}" type="datetimeFigureOut">
              <a:rPr lang="he-IL" smtClean="0"/>
              <a:t>י"א/טבת/תשפ"ו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A8DBC6-F448-4F9F-ABC0-078D2CD8D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30DC1A-5C50-4AD5-87B7-09C9B3198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C240-F336-4EB4-981C-707E0B6BDAE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34435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4DB2C-26A3-4875-ABC9-2986D4CA2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00C2C6-16BB-447C-A835-9624CEE46C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78CBA-F652-4C07-95AC-B5CB0FFE01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9CAD2C-B91B-4F88-A30C-570198B67D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92F01E-9832-475D-B2B4-51EC43B4BC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C1B076-BA0F-44FB-AD6E-C1442EDF1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CCF04-8CF0-4E36-8BA4-B3428484C0CB}" type="datetimeFigureOut">
              <a:rPr lang="he-IL" smtClean="0"/>
              <a:t>י"א/טבת/תשפ"ו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1BABDF-249C-4A28-9B1F-F97E9EBDD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49234F-DAA5-482A-96BD-68A02A598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C240-F336-4EB4-981C-707E0B6BDAE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9359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E9FE9-D0D8-4B65-8729-9FCC54078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F683E9-2A19-41D0-A844-703276A0B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CCF04-8CF0-4E36-8BA4-B3428484C0CB}" type="datetimeFigureOut">
              <a:rPr lang="he-IL" smtClean="0"/>
              <a:t>י"א/טבת/תשפ"ו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C32130-17ED-4EAD-9C66-82C9DF3C7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079692-9D23-45F9-8075-70E076548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C240-F336-4EB4-981C-707E0B6BDAE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3780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9EED29-AE1D-4895-A62B-91BC29474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CCF04-8CF0-4E36-8BA4-B3428484C0CB}" type="datetimeFigureOut">
              <a:rPr lang="he-IL" smtClean="0"/>
              <a:t>י"א/טבת/תשפ"ו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2C2BDE-7928-4C7F-BF4B-CBCC04E45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4332BF-8AB9-40DD-A245-DA7B4FF1A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C240-F336-4EB4-981C-707E0B6BDAE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70398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B4BCA-1B9A-477A-9E20-FEE6B7A20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A0D14-211B-41FB-B79C-1C52CBBFE0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8605AA-3925-46CA-A208-55966570FB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D4E9EC-593F-47A3-B1A4-1E4743C27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CCF04-8CF0-4E36-8BA4-B3428484C0CB}" type="datetimeFigureOut">
              <a:rPr lang="he-IL" smtClean="0"/>
              <a:t>י"א/טבת/תשפ"ו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C61401-0463-4281-AF33-1AE1B7E75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720FAA-254E-4721-A4A2-7271991ED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C240-F336-4EB4-981C-707E0B6BDAE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64626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9FBA0-EA4C-40FC-BFED-FD2056115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CFBAC5-A0DC-45A3-A27A-41E512E145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2E9728-5516-47A6-9B0E-729B5E337E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1E945E-78C2-4452-B775-75ECF6C73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CCF04-8CF0-4E36-8BA4-B3428484C0CB}" type="datetimeFigureOut">
              <a:rPr lang="he-IL" smtClean="0"/>
              <a:t>י"א/טבת/תשפ"ו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737FDE-BE17-4CD7-A59D-58EE694E1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AF2A52-8E04-458A-BB53-70E4017E5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C240-F336-4EB4-981C-707E0B6BDAE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92316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9FEDC-924B-4CA0-9F3A-518179EE7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9C3150-7B71-4278-BB00-E42BEB5102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B8296F-CF9B-4004-B84E-251252641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CCF04-8CF0-4E36-8BA4-B3428484C0CB}" type="datetimeFigureOut">
              <a:rPr lang="he-IL" smtClean="0"/>
              <a:t>י"א/טבת/תשפ"ו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384C5-CC92-42F7-918B-937B2691D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C94B19-7C8B-4E3E-82A5-C7253221E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C240-F336-4EB4-981C-707E0B6BDAE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38205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8889F3-C339-4D9D-95FA-73529F71FB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B96739-DAC5-4231-A573-E5F51216F3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D9763C-B059-49FC-BB8A-5526B448F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CCF04-8CF0-4E36-8BA4-B3428484C0CB}" type="datetimeFigureOut">
              <a:rPr lang="he-IL" smtClean="0"/>
              <a:t>י"א/טבת/תשפ"ו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51A51-BBDD-4002-96F6-62ECBDB46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214B0C-75B9-42D7-B99A-D8E85C841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C240-F336-4EB4-981C-707E0B6BDAE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38174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45C618-7D40-41B9-BF54-014F576EB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4B23AD-10DE-4F21-BDBA-658B989C0F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93FF4A-664D-4289-BEAC-54F44DAD42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0CCF04-8CF0-4E36-8BA4-B3428484C0CB}" type="datetimeFigureOut">
              <a:rPr lang="he-IL" smtClean="0"/>
              <a:t>י"א/טבת/תשפ"ו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44B04-56AE-4EA2-81C7-2C142CE93E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70077-A14A-4718-B56C-A40858F9CA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86C240-F336-4EB4-981C-707E0B6BDAE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65461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47612D6-B176-496F-9C34-79FD3025A8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Lettuces –phenotype investigation</a:t>
            </a:r>
            <a:endParaRPr lang="he-IL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5F241F71-08DA-4B0E-BF75-35087B24F1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The results based on dataset crafted</a:t>
            </a:r>
          </a:p>
          <a:p>
            <a:r>
              <a:rPr lang="en-US" dirty="0"/>
              <a:t> from BNEI-ATAROT lettuces greenhouse 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187566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9A2A9-8247-4593-8605-4EF0DF087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RGB images dataset</a:t>
            </a:r>
            <a:endParaRPr lang="he-IL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4431C1-AD7D-4739-8BC5-34E78DFC10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087535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We compute the mean of each one of the </a:t>
            </a:r>
            <a:r>
              <a:rPr lang="en-US" sz="2000" dirty="0" err="1"/>
              <a:t>hsv</a:t>
            </a:r>
            <a:r>
              <a:rPr lang="en-US" sz="2000" dirty="0"/>
              <a:t> values of the plant </a:t>
            </a:r>
            <a:r>
              <a:rPr lang="en-US" sz="2000" dirty="0" err="1"/>
              <a:t>aera</a:t>
            </a:r>
            <a:r>
              <a:rPr lang="en-US" sz="2000" dirty="0"/>
              <a:t> for each image in the </a:t>
            </a:r>
            <a:r>
              <a:rPr lang="en-US" sz="2000" dirty="0" err="1"/>
              <a:t>rgb</a:t>
            </a:r>
            <a:r>
              <a:rPr lang="en-US" sz="2000" dirty="0"/>
              <a:t> images pictured at 7/12/25 (</a:t>
            </a:r>
            <a:r>
              <a:rPr lang="nn-NO" sz="2000" i="1" dirty="0"/>
              <a:t>rgb_imgs_dataset_BneiAtarot_2025-12-28 16.csv</a:t>
            </a:r>
            <a:r>
              <a:rPr lang="nn-NO" sz="2000" dirty="0"/>
              <a:t>)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/>
              <a:t>Than we merge this dataset with reference dataset contain the Anthocyanin value for each image created in 5/12/25 (</a:t>
            </a:r>
            <a:r>
              <a:rPr lang="en-US" sz="2000" i="1" dirty="0"/>
              <a:t>Anthocyanin_BENI_ATAROT_2025-12-05.csv)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In the next step we check the correlation to the Anthocyanin  in completed dataset (</a:t>
            </a:r>
            <a:r>
              <a:rPr lang="en-US" sz="2000" i="1" dirty="0"/>
              <a:t>complete_ds_of_Anthocyanin_BENI_ATAROT_2025-12-05_1766935305.461822.csv) </a:t>
            </a:r>
            <a:r>
              <a:rPr lang="en-US" sz="2000" dirty="0"/>
              <a:t>with linear regression  </a:t>
            </a:r>
            <a:r>
              <a:rPr lang="en-US" sz="2000" i="1" dirty="0"/>
              <a:t>.</a:t>
            </a:r>
          </a:p>
          <a:p>
            <a:pPr>
              <a:lnSpc>
                <a:spcPct val="150000"/>
              </a:lnSpc>
            </a:pPr>
            <a:endParaRPr lang="en-US" sz="2000" dirty="0"/>
          </a:p>
          <a:p>
            <a:pPr>
              <a:lnSpc>
                <a:spcPct val="150000"/>
              </a:lnSpc>
            </a:pPr>
            <a:endParaRPr lang="he-IL" sz="2000" dirty="0"/>
          </a:p>
        </p:txBody>
      </p:sp>
    </p:spTree>
    <p:extLst>
      <p:ext uri="{BB962C8B-B14F-4D97-AF65-F5344CB8AC3E}">
        <p14:creationId xmlns:p14="http://schemas.microsoft.com/office/powerpoint/2010/main" val="4280851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93AE30D-BB4D-4FD2-934F-6C393058B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LR of mean of hue values for the plant</a:t>
            </a:r>
            <a:endParaRPr lang="he-IL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A06341-3E4E-4A79-9159-09541B4A744E}"/>
              </a:ext>
            </a:extLst>
          </p:cNvPr>
          <p:cNvSpPr txBox="1"/>
          <p:nvPr/>
        </p:nvSpPr>
        <p:spPr>
          <a:xfrm>
            <a:off x="3775260" y="1438836"/>
            <a:ext cx="4003864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600" noProof="1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</a:rPr>
              <a:t>ds_name</a:t>
            </a:r>
            <a:r>
              <a:rPr lang="en-US" sz="600" b="1" noProof="1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</a:rPr>
              <a:t>=</a:t>
            </a:r>
            <a:r>
              <a:rPr lang="en-US" sz="600" noProof="1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</a:rPr>
              <a:t>'complete_ds_of_Anthocyanin_BENI_ATAROT_2025-12-05_1766935305.461822.csv' ml</a:t>
            </a:r>
            <a:r>
              <a:rPr lang="en-US" sz="600" b="1" noProof="1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</a:rPr>
              <a:t>=</a:t>
            </a:r>
            <a:r>
              <a:rPr lang="en-US" sz="600" noProof="1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</a:rPr>
              <a:t>training</a:t>
            </a:r>
            <a:r>
              <a:rPr lang="en-US" sz="600" b="1" noProof="1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</a:rPr>
              <a:t>.</a:t>
            </a:r>
            <a:r>
              <a:rPr lang="en-US" sz="600" i="1" noProof="1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</a:rPr>
              <a:t>training</a:t>
            </a:r>
            <a:r>
              <a:rPr lang="en-US" sz="600" b="1" noProof="1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</a:rPr>
              <a:t>(</a:t>
            </a:r>
            <a:r>
              <a:rPr lang="en-US" sz="600" noProof="1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</a:rPr>
              <a:t>dataset_name</a:t>
            </a:r>
            <a:r>
              <a:rPr lang="en-US" sz="600" b="1" noProof="1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</a:rPr>
              <a:t>=</a:t>
            </a:r>
            <a:r>
              <a:rPr lang="en-US" sz="600" noProof="1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</a:rPr>
              <a:t>ds_name</a:t>
            </a:r>
            <a:r>
              <a:rPr lang="en-US" sz="600" b="1" noProof="1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</a:rPr>
              <a:t>)</a:t>
            </a:r>
            <a:r>
              <a:rPr lang="en-US" sz="600" noProof="1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</a:rPr>
              <a:t> </a:t>
            </a:r>
            <a:r>
              <a:rPr lang="en-US" sz="600" b="1" noProof="1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</a:rPr>
              <a:t>print(</a:t>
            </a:r>
            <a:r>
              <a:rPr lang="en-US" sz="600" noProof="1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</a:rPr>
              <a:t>ml</a:t>
            </a:r>
            <a:r>
              <a:rPr lang="en-US" sz="600" b="1" noProof="1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</a:rPr>
              <a:t>.</a:t>
            </a:r>
            <a:r>
              <a:rPr lang="en-US" sz="600" i="1" noProof="1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</a:rPr>
              <a:t>df</a:t>
            </a:r>
            <a:r>
              <a:rPr lang="en-US" sz="600" b="1" noProof="1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</a:rPr>
              <a:t>.</a:t>
            </a:r>
            <a:r>
              <a:rPr lang="en-US" sz="600" i="1" noProof="1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</a:rPr>
              <a:t>shape</a:t>
            </a:r>
            <a:r>
              <a:rPr lang="en-US" sz="600" b="1" noProof="1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</a:rPr>
              <a:t>)</a:t>
            </a:r>
            <a:r>
              <a:rPr lang="en-US" sz="600" noProof="1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</a:rPr>
              <a:t> trainable_features</a:t>
            </a:r>
            <a:r>
              <a:rPr lang="en-US" sz="600" b="1" noProof="1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</a:rPr>
              <a:t>=[</a:t>
            </a:r>
            <a:r>
              <a:rPr lang="en-US" sz="600" noProof="1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</a:rPr>
              <a:t>'huePlantMean'</a:t>
            </a:r>
            <a:r>
              <a:rPr lang="en-US" sz="600" b="1" noProof="1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</a:rPr>
              <a:t>,</a:t>
            </a:r>
            <a:r>
              <a:rPr lang="en-US" sz="600" noProof="1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</a:rPr>
              <a:t>'Anthocyanin'</a:t>
            </a:r>
            <a:r>
              <a:rPr lang="en-US" sz="600" b="1" noProof="1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</a:rPr>
              <a:t>]</a:t>
            </a:r>
            <a:r>
              <a:rPr lang="en-US" sz="600" noProof="1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</a:rPr>
              <a:t> target</a:t>
            </a:r>
            <a:r>
              <a:rPr lang="en-US" sz="600" b="1" noProof="1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</a:rPr>
              <a:t>=</a:t>
            </a:r>
            <a:r>
              <a:rPr lang="en-US" sz="600" noProof="1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</a:rPr>
              <a:t>'Anthocyanin' ml</a:t>
            </a:r>
            <a:r>
              <a:rPr lang="en-US" sz="600" b="1" noProof="1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</a:rPr>
              <a:t>.</a:t>
            </a:r>
            <a:r>
              <a:rPr lang="en-US" sz="600" i="1" noProof="1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</a:rPr>
              <a:t>evaluate_regression_models</a:t>
            </a:r>
            <a:r>
              <a:rPr lang="en-US" sz="600" b="1" noProof="1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</a:rPr>
              <a:t>(</a:t>
            </a:r>
            <a:r>
              <a:rPr lang="en-US" sz="600" noProof="1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</a:rPr>
              <a:t>trainable_features</a:t>
            </a:r>
            <a:r>
              <a:rPr lang="en-US" sz="600" b="1" noProof="1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</a:rPr>
              <a:t>,</a:t>
            </a:r>
            <a:r>
              <a:rPr lang="en-US" sz="600" noProof="1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</a:rPr>
              <a:t>target</a:t>
            </a:r>
            <a:r>
              <a:rPr lang="en-US" sz="600" b="1" noProof="1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</a:rPr>
              <a:t>)</a:t>
            </a:r>
            <a:r>
              <a:rPr lang="en-US" sz="600" noProof="1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</a:rPr>
              <a:t> ml</a:t>
            </a:r>
            <a:r>
              <a:rPr lang="en-US" sz="600" b="1" noProof="1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</a:rPr>
              <a:t>.</a:t>
            </a:r>
            <a:r>
              <a:rPr lang="en-US" sz="600" i="1" noProof="1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</a:rPr>
              <a:t>plot_linear_regression</a:t>
            </a:r>
            <a:r>
              <a:rPr lang="en-US" sz="600" b="1" noProof="1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</a:rPr>
              <a:t>(</a:t>
            </a:r>
            <a:r>
              <a:rPr lang="en-US" sz="600" noProof="1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</a:rPr>
              <a:t>trainable_features</a:t>
            </a:r>
            <a:r>
              <a:rPr lang="en-US" sz="600" b="1" noProof="1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</a:rPr>
              <a:t>,</a:t>
            </a:r>
            <a:r>
              <a:rPr lang="en-US" sz="600" noProof="1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</a:rPr>
              <a:t>target</a:t>
            </a:r>
            <a:r>
              <a:rPr lang="en-US" sz="600" b="1" noProof="1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</a:rPr>
              <a:t>,</a:t>
            </a:r>
            <a:r>
              <a:rPr lang="en-US" sz="600" noProof="1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</a:rPr>
              <a:t>indecator</a:t>
            </a:r>
            <a:r>
              <a:rPr lang="en-US" sz="600" b="1" noProof="1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</a:rPr>
              <a:t>=</a:t>
            </a:r>
            <a:r>
              <a:rPr lang="en-US" sz="600" noProof="1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</a:rPr>
              <a:t>'catalog id'</a:t>
            </a:r>
            <a:r>
              <a:rPr lang="en-US" sz="600" b="1" noProof="1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</a:rPr>
              <a:t>)</a:t>
            </a:r>
            <a:endParaRPr lang="en-US" sz="600" noProof="1">
              <a:solidFill>
                <a:schemeClr val="bg1">
                  <a:lumMod val="75000"/>
                </a:schemeClr>
              </a:solidFill>
            </a:endParaRPr>
          </a:p>
          <a:p>
            <a:endParaRPr lang="he-IL" sz="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249ADB-7DF3-4116-809B-57014D9CA5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9914" y="1234435"/>
            <a:ext cx="5852172" cy="43891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300823C-2E3F-4BC2-B82F-C30816BC50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9914" y="1234435"/>
            <a:ext cx="5852172" cy="438912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51EF0F4-83DA-4C78-B93C-67AC147D5D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9350" y="1802342"/>
            <a:ext cx="9144018" cy="457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976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348985-6947-4C9E-8879-FD8D5EC023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0"/>
            <a:ext cx="8229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819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6E6F3-4B73-4534-A67B-8C95D0259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LR of mean of saturation values for the plant</a:t>
            </a:r>
            <a:endParaRPr lang="he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FBC822-4D66-412F-8DF3-F2CFCBCD50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6415" y="1586748"/>
            <a:ext cx="9144018" cy="457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885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9BB9DF-6FBD-40E5-8CB9-ECAD59C48A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0"/>
            <a:ext cx="8229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825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6E6F3-4B73-4534-A67B-8C95D0259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288" y="439084"/>
            <a:ext cx="10515600" cy="1325563"/>
          </a:xfrm>
        </p:spPr>
        <p:txBody>
          <a:bodyPr/>
          <a:lstStyle/>
          <a:p>
            <a:r>
              <a:rPr lang="en-US" dirty="0"/>
              <a:t>LR of mean of value values for the plant</a:t>
            </a:r>
            <a:endParaRPr lang="he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F9C4CA-9C69-49B9-BC0B-7D2E59FFB2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91" y="1559854"/>
            <a:ext cx="9144018" cy="457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837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529D07-E29A-4219-AF30-B15F533625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0"/>
            <a:ext cx="8229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541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AAA2C-995B-401D-BE38-AB26AC54C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LR of  </a:t>
            </a:r>
            <a:r>
              <a:rPr lang="en-US" dirty="0" err="1"/>
              <a:t>hsv</a:t>
            </a:r>
            <a:r>
              <a:rPr lang="en-US" dirty="0"/>
              <a:t> means for the plant</a:t>
            </a:r>
            <a:endParaRPr lang="he-IL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F7F098-CFEC-4279-B597-3E727DE62D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481" y="2261862"/>
            <a:ext cx="10921253" cy="2723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887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585CC905-A369-4524-9FF6-9F5DEFA5ED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1319" y="605117"/>
            <a:ext cx="3266838" cy="5856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3E86881-9D43-4B11-B7C5-F481701DC105}"/>
              </a:ext>
            </a:extLst>
          </p:cNvPr>
          <p:cNvSpPr txBox="1"/>
          <p:nvPr/>
        </p:nvSpPr>
        <p:spPr>
          <a:xfrm>
            <a:off x="736223" y="2319619"/>
            <a:ext cx="6283141" cy="193899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endParaRPr lang="en-US" sz="1000" noProof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sz="1000" noProof="1">
                <a:solidFill>
                  <a:srgbClr val="000000"/>
                </a:solidFill>
                <a:latin typeface="Courier New" panose="02070309020205020404" pitchFamily="49" charset="0"/>
              </a:rPr>
              <a:t>trainable_features</a:t>
            </a:r>
            <a:r>
              <a:rPr lang="en-US" sz="1000" b="1" noProof="1">
                <a:solidFill>
                  <a:srgbClr val="000080"/>
                </a:solidFill>
                <a:latin typeface="Courier New" panose="02070309020205020404" pitchFamily="49" charset="0"/>
              </a:rPr>
              <a:t>=[</a:t>
            </a:r>
            <a:r>
              <a:rPr lang="en-US" sz="1000" noProof="1">
                <a:solidFill>
                  <a:srgbClr val="808080"/>
                </a:solidFill>
                <a:latin typeface="Courier New" panose="02070309020205020404" pitchFamily="49" charset="0"/>
              </a:rPr>
              <a:t>'valPlantMean'</a:t>
            </a:r>
            <a:r>
              <a:rPr lang="en-US" sz="1000" b="1" noProof="1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000" noProof="1">
                <a:solidFill>
                  <a:srgbClr val="808080"/>
                </a:solidFill>
                <a:latin typeface="Courier New" panose="02070309020205020404" pitchFamily="49" charset="0"/>
              </a:rPr>
              <a:t>'satPlantMean'</a:t>
            </a:r>
            <a:r>
              <a:rPr lang="en-US" sz="1000" b="1" noProof="1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000" noProof="1">
                <a:solidFill>
                  <a:srgbClr val="808080"/>
                </a:solidFill>
                <a:latin typeface="Courier New" panose="02070309020205020404" pitchFamily="49" charset="0"/>
              </a:rPr>
              <a:t>'huePlantMean'</a:t>
            </a:r>
            <a:r>
              <a:rPr lang="en-US" sz="1000" b="1" noProof="1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000" noProof="1">
                <a:solidFill>
                  <a:srgbClr val="808080"/>
                </a:solidFill>
                <a:latin typeface="Courier New" panose="02070309020205020404" pitchFamily="49" charset="0"/>
              </a:rPr>
              <a:t>'Anthocyanin’</a:t>
            </a:r>
            <a:r>
              <a:rPr lang="en-US" sz="1000" b="1" noProof="1">
                <a:solidFill>
                  <a:srgbClr val="000080"/>
                </a:solidFill>
                <a:latin typeface="Courier New" panose="02070309020205020404" pitchFamily="49" charset="0"/>
              </a:rPr>
              <a:t>]</a:t>
            </a:r>
            <a:r>
              <a:rPr lang="en-US" sz="1000" noProof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000" noProof="1">
                <a:solidFill>
                  <a:srgbClr val="000000"/>
                </a:solidFill>
                <a:latin typeface="Courier New" panose="02070309020205020404" pitchFamily="49" charset="0"/>
              </a:rPr>
              <a:t>target</a:t>
            </a:r>
            <a:r>
              <a:rPr lang="en-US" sz="1000" b="1" noProof="1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000" noProof="1">
                <a:solidFill>
                  <a:srgbClr val="808080"/>
                </a:solidFill>
                <a:latin typeface="Courier New" panose="02070309020205020404" pitchFamily="49" charset="0"/>
              </a:rPr>
              <a:t>'Anthocyanin'</a:t>
            </a:r>
            <a:endParaRPr lang="en-US" sz="1000" noProof="1"/>
          </a:p>
          <a:p>
            <a:endParaRPr lang="en-US" sz="1000" noProof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sz="1000" noProof="1">
                <a:solidFill>
                  <a:srgbClr val="000000"/>
                </a:solidFill>
                <a:latin typeface="Courier New" panose="02070309020205020404" pitchFamily="49" charset="0"/>
              </a:rPr>
              <a:t>ml</a:t>
            </a:r>
            <a:r>
              <a:rPr lang="en-US" sz="1000" b="1" noProof="1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000" noProof="1">
                <a:solidFill>
                  <a:srgbClr val="000000"/>
                </a:solidFill>
                <a:latin typeface="Courier New" panose="02070309020205020404" pitchFamily="49" charset="0"/>
              </a:rPr>
              <a:t>training</a:t>
            </a:r>
            <a:r>
              <a:rPr lang="en-US" sz="1000" b="1" noProof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000" i="1" noProof="1">
                <a:solidFill>
                  <a:srgbClr val="FF8000"/>
                </a:solidFill>
                <a:latin typeface="Courier New" panose="02070309020205020404" pitchFamily="49" charset="0"/>
              </a:rPr>
              <a:t>training</a:t>
            </a:r>
            <a:r>
              <a:rPr lang="en-US" sz="1000" b="1" noProof="1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000" noProof="1">
                <a:solidFill>
                  <a:srgbClr val="000000"/>
                </a:solidFill>
                <a:latin typeface="Courier New" panose="02070309020205020404" pitchFamily="49" charset="0"/>
              </a:rPr>
              <a:t>dataset_name</a:t>
            </a:r>
            <a:r>
              <a:rPr lang="en-US" sz="1000" b="1" noProof="1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000" noProof="1">
                <a:solidFill>
                  <a:srgbClr val="000000"/>
                </a:solidFill>
                <a:latin typeface="Courier New" panose="02070309020205020404" pitchFamily="49" charset="0"/>
              </a:rPr>
              <a:t>ds_name</a:t>
            </a:r>
            <a:r>
              <a:rPr lang="en-US" sz="1000" b="1" noProof="1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sz="1000" noProof="1">
                <a:solidFill>
                  <a:srgbClr val="000000"/>
                </a:solidFill>
                <a:latin typeface="Courier New" panose="02070309020205020404" pitchFamily="49" charset="0"/>
              </a:rPr>
              <a:t> df</a:t>
            </a:r>
            <a:r>
              <a:rPr lang="en-US" sz="1000" b="1" noProof="1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000" noProof="1">
                <a:solidFill>
                  <a:srgbClr val="000000"/>
                </a:solidFill>
                <a:latin typeface="Courier New" panose="02070309020205020404" pitchFamily="49" charset="0"/>
              </a:rPr>
              <a:t>ml</a:t>
            </a:r>
            <a:r>
              <a:rPr lang="en-US" sz="1000" b="1" noProof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000" i="1" noProof="1">
                <a:solidFill>
                  <a:srgbClr val="FF8000"/>
                </a:solidFill>
                <a:latin typeface="Courier New" panose="02070309020205020404" pitchFamily="49" charset="0"/>
              </a:rPr>
              <a:t>df</a:t>
            </a:r>
            <a:r>
              <a:rPr lang="en-US" sz="1000" noProof="1">
                <a:solidFill>
                  <a:srgbClr val="000000"/>
                </a:solidFill>
                <a:latin typeface="Courier New" panose="02070309020205020404" pitchFamily="49" charset="0"/>
              </a:rPr>
              <a:t> X</a:t>
            </a:r>
            <a:r>
              <a:rPr lang="en-US" sz="1000" b="1" noProof="1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000" noProof="1">
                <a:solidFill>
                  <a:srgbClr val="000000"/>
                </a:solidFill>
                <a:latin typeface="Courier New" panose="02070309020205020404" pitchFamily="49" charset="0"/>
              </a:rPr>
              <a:t>y</a:t>
            </a:r>
            <a:r>
              <a:rPr lang="en-US" sz="1000" b="1" noProof="1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000" noProof="1">
                <a:solidFill>
                  <a:srgbClr val="000000"/>
                </a:solidFill>
                <a:latin typeface="Courier New" panose="02070309020205020404" pitchFamily="49" charset="0"/>
              </a:rPr>
              <a:t>ml</a:t>
            </a:r>
            <a:r>
              <a:rPr lang="en-US" sz="1000" b="1" noProof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000" i="1" noProof="1">
                <a:solidFill>
                  <a:srgbClr val="FF8000"/>
                </a:solidFill>
                <a:latin typeface="Courier New" panose="02070309020205020404" pitchFamily="49" charset="0"/>
              </a:rPr>
              <a:t>split_dataset_to_X_and_y</a:t>
            </a:r>
            <a:r>
              <a:rPr lang="en-US" sz="1000" b="1" noProof="1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000" noProof="1">
                <a:solidFill>
                  <a:srgbClr val="000000"/>
                </a:solidFill>
                <a:latin typeface="Courier New" panose="02070309020205020404" pitchFamily="49" charset="0"/>
              </a:rPr>
              <a:t>trainable_features</a:t>
            </a:r>
            <a:r>
              <a:rPr lang="en-US" sz="1000" b="1" noProof="1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000" noProof="1">
                <a:solidFill>
                  <a:srgbClr val="000000"/>
                </a:solidFill>
                <a:latin typeface="Courier New" panose="02070309020205020404" pitchFamily="49" charset="0"/>
              </a:rPr>
              <a:t>target</a:t>
            </a:r>
            <a:r>
              <a:rPr lang="en-US" sz="1000" b="1" noProof="1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000" noProof="1">
                <a:solidFill>
                  <a:srgbClr val="000000"/>
                </a:solidFill>
                <a:latin typeface="Courier New" panose="02070309020205020404" pitchFamily="49" charset="0"/>
              </a:rPr>
              <a:t>df</a:t>
            </a:r>
            <a:r>
              <a:rPr lang="en-US" sz="1000" b="1" noProof="1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sz="1000" noProof="1">
                <a:solidFill>
                  <a:srgbClr val="000000"/>
                </a:solidFill>
                <a:latin typeface="Courier New" panose="02070309020205020404" pitchFamily="49" charset="0"/>
              </a:rPr>
              <a:t> y_arr</a:t>
            </a:r>
            <a:r>
              <a:rPr lang="en-US" sz="1000" b="1" noProof="1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000" noProof="1">
                <a:solidFill>
                  <a:srgbClr val="000000"/>
                </a:solidFill>
                <a:latin typeface="Courier New" panose="02070309020205020404" pitchFamily="49" charset="0"/>
              </a:rPr>
              <a:t>y</a:t>
            </a:r>
            <a:r>
              <a:rPr lang="en-US" sz="1000" b="1" noProof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000" i="1" noProof="1">
                <a:solidFill>
                  <a:srgbClr val="FF8000"/>
                </a:solidFill>
                <a:latin typeface="Courier New" panose="02070309020205020404" pitchFamily="49" charset="0"/>
              </a:rPr>
              <a:t>copy</a:t>
            </a:r>
            <a:r>
              <a:rPr lang="en-US" sz="1000" b="1" noProof="1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</a:p>
          <a:p>
            <a:r>
              <a:rPr lang="en-US" sz="1000" noProof="1">
                <a:solidFill>
                  <a:srgbClr val="000000"/>
                </a:solidFill>
                <a:latin typeface="Courier New" panose="02070309020205020404" pitchFamily="49" charset="0"/>
              </a:rPr>
              <a:t>indecator</a:t>
            </a:r>
            <a:r>
              <a:rPr lang="en-US" sz="1000" b="1" noProof="1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000" noProof="1">
                <a:solidFill>
                  <a:srgbClr val="808080"/>
                </a:solidFill>
                <a:latin typeface="Courier New" panose="02070309020205020404" pitchFamily="49" charset="0"/>
              </a:rPr>
              <a:t>'catalog id’</a:t>
            </a:r>
          </a:p>
          <a:p>
            <a:r>
              <a:rPr lang="en-US" sz="1000" noProof="1">
                <a:solidFill>
                  <a:srgbClr val="008000"/>
                </a:solidFill>
                <a:latin typeface="Courier New" panose="02070309020205020404" pitchFamily="49" charset="0"/>
              </a:rPr>
              <a:t># # Create the plot</a:t>
            </a:r>
          </a:p>
          <a:p>
            <a:r>
              <a:rPr lang="en-US" sz="1000" noProof="1">
                <a:solidFill>
                  <a:srgbClr val="000000"/>
                </a:solidFill>
                <a:latin typeface="Courier New" panose="02070309020205020404" pitchFamily="49" charset="0"/>
              </a:rPr>
              <a:t>plt</a:t>
            </a:r>
            <a:r>
              <a:rPr lang="en-US" sz="1000" b="1" noProof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000" i="1" noProof="1">
                <a:solidFill>
                  <a:srgbClr val="FF8000"/>
                </a:solidFill>
                <a:latin typeface="Courier New" panose="02070309020205020404" pitchFamily="49" charset="0"/>
              </a:rPr>
              <a:t>figure</a:t>
            </a:r>
            <a:r>
              <a:rPr lang="en-US" sz="1000" b="1" noProof="1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000" noProof="1">
                <a:solidFill>
                  <a:srgbClr val="000000"/>
                </a:solidFill>
                <a:latin typeface="Courier New" panose="02070309020205020404" pitchFamily="49" charset="0"/>
              </a:rPr>
              <a:t>figsize</a:t>
            </a:r>
            <a:r>
              <a:rPr lang="en-US" sz="1000" b="1" noProof="1">
                <a:solidFill>
                  <a:srgbClr val="000080"/>
                </a:solidFill>
                <a:latin typeface="Courier New" panose="02070309020205020404" pitchFamily="49" charset="0"/>
              </a:rPr>
              <a:t>=(</a:t>
            </a:r>
            <a:r>
              <a:rPr lang="en-US" sz="1000" noProof="1">
                <a:solidFill>
                  <a:srgbClr val="FF0000"/>
                </a:solidFill>
                <a:latin typeface="Courier New" panose="02070309020205020404" pitchFamily="49" charset="0"/>
              </a:rPr>
              <a:t>1</a:t>
            </a:r>
            <a:r>
              <a:rPr lang="en-US" sz="1000" b="1" noProof="1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000" noProof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000" noProof="1">
                <a:solidFill>
                  <a:srgbClr val="FF0000"/>
                </a:solidFill>
                <a:latin typeface="Courier New" panose="02070309020205020404" pitchFamily="49" charset="0"/>
              </a:rPr>
              <a:t>15</a:t>
            </a:r>
            <a:r>
              <a:rPr lang="en-US" sz="1000" b="1" noProof="1">
                <a:solidFill>
                  <a:srgbClr val="000080"/>
                </a:solidFill>
                <a:latin typeface="Courier New" panose="02070309020205020404" pitchFamily="49" charset="0"/>
              </a:rPr>
              <a:t>))</a:t>
            </a:r>
            <a:r>
              <a:rPr lang="en-US" sz="1000" noProof="1">
                <a:solidFill>
                  <a:srgbClr val="000000"/>
                </a:solidFill>
                <a:latin typeface="Courier New" panose="02070309020205020404" pitchFamily="49" charset="0"/>
              </a:rPr>
              <a:t> ml</a:t>
            </a:r>
            <a:r>
              <a:rPr lang="en-US" sz="1000" b="1" noProof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000" i="1" noProof="1">
                <a:solidFill>
                  <a:srgbClr val="FF8000"/>
                </a:solidFill>
                <a:latin typeface="Courier New" panose="02070309020205020404" pitchFamily="49" charset="0"/>
              </a:rPr>
              <a:t>plot_Anthocyanin_values_in_one_line_plot</a:t>
            </a:r>
            <a:r>
              <a:rPr lang="en-US" sz="1000" b="1" noProof="1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000" noProof="1">
                <a:solidFill>
                  <a:srgbClr val="000000"/>
                </a:solidFill>
                <a:latin typeface="Courier New" panose="02070309020205020404" pitchFamily="49" charset="0"/>
              </a:rPr>
              <a:t>plt</a:t>
            </a:r>
            <a:r>
              <a:rPr lang="en-US" sz="1000" b="1" noProof="1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000" noProof="1">
                <a:solidFill>
                  <a:srgbClr val="000000"/>
                </a:solidFill>
                <a:latin typeface="Courier New" panose="02070309020205020404" pitchFamily="49" charset="0"/>
              </a:rPr>
              <a:t>y_arr</a:t>
            </a:r>
            <a:r>
              <a:rPr lang="en-US" sz="1000" b="1" noProof="1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000" noProof="1">
                <a:solidFill>
                  <a:srgbClr val="000000"/>
                </a:solidFill>
                <a:latin typeface="Courier New" panose="02070309020205020404" pitchFamily="49" charset="0"/>
              </a:rPr>
              <a:t>df</a:t>
            </a:r>
            <a:r>
              <a:rPr lang="en-US" sz="1000" b="1" noProof="1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000" noProof="1">
                <a:solidFill>
                  <a:srgbClr val="000000"/>
                </a:solidFill>
                <a:latin typeface="Courier New" panose="02070309020205020404" pitchFamily="49" charset="0"/>
              </a:rPr>
              <a:t>target</a:t>
            </a:r>
            <a:r>
              <a:rPr lang="en-US" sz="1000" b="1" noProof="1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000" noProof="1">
                <a:solidFill>
                  <a:srgbClr val="000000"/>
                </a:solidFill>
                <a:latin typeface="Courier New" panose="02070309020205020404" pitchFamily="49" charset="0"/>
              </a:rPr>
              <a:t>indecator</a:t>
            </a:r>
            <a:r>
              <a:rPr lang="en-US" sz="1000" b="1" noProof="1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000" noProof="1">
                <a:solidFill>
                  <a:srgbClr val="000000"/>
                </a:solidFill>
                <a:latin typeface="Courier New" panose="02070309020205020404" pitchFamily="49" charset="0"/>
              </a:rPr>
              <a:t>trainable_features</a:t>
            </a:r>
            <a:r>
              <a:rPr lang="en-US" sz="1000" b="1" noProof="1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endParaRPr lang="en-US" sz="1000" noProof="1"/>
          </a:p>
          <a:p>
            <a:endParaRPr lang="he-IL" sz="1000" dirty="0"/>
          </a:p>
        </p:txBody>
      </p:sp>
    </p:spTree>
    <p:extLst>
      <p:ext uri="{BB962C8B-B14F-4D97-AF65-F5344CB8AC3E}">
        <p14:creationId xmlns:p14="http://schemas.microsoft.com/office/powerpoint/2010/main" val="5412211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9A2A9-8247-4593-8605-4EF0DF087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Hyper spectral images dataset</a:t>
            </a:r>
            <a:endParaRPr lang="he-IL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4431C1-AD7D-4739-8BC5-34E78DFC10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087535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We compute the vegetation indices of the plant area for each image in the hp images pictured at 2025/12/23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nn-NO" sz="1600" i="1" dirty="0">
                <a:solidFill>
                  <a:schemeClr val="bg1">
                    <a:lumMod val="50000"/>
                  </a:schemeClr>
                </a:solidFill>
              </a:rPr>
              <a:t>hyper_sp_imgs_dataset_created_at_20251223_from_BneiAtarot_2025-12-24 10.csv</a:t>
            </a:r>
            <a:r>
              <a:rPr lang="nn-NO" sz="160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en-US" sz="1600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Than we merge this dataset with reference dataset contain the Anthocyanin value for each image created in 2025/12/17 (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</a:rPr>
              <a:t>Anthocyanin_BENI_ATAROT_2025-17-05.csv)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In the next step we check the correlation to the Anthocyanin  in completed dataset (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</a:rPr>
              <a:t>complete_ds_of_Anthocyanin_BENI_ATAROT_2025-12-17_1767192251.7532542.csv)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with linear regression  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endParaRPr lang="en-US" sz="2000" dirty="0"/>
          </a:p>
          <a:p>
            <a:pPr>
              <a:lnSpc>
                <a:spcPct val="150000"/>
              </a:lnSpc>
            </a:pPr>
            <a:endParaRPr lang="he-IL" sz="2000" dirty="0"/>
          </a:p>
        </p:txBody>
      </p:sp>
    </p:spTree>
    <p:extLst>
      <p:ext uri="{BB962C8B-B14F-4D97-AF65-F5344CB8AC3E}">
        <p14:creationId xmlns:p14="http://schemas.microsoft.com/office/powerpoint/2010/main" val="34226372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E14EB721-3E53-43C9-876D-589B2F9975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91" y="1142995"/>
            <a:ext cx="9144018" cy="457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525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160C34-1AE8-49EF-A195-16C2AE4A7C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0"/>
            <a:ext cx="8229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964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109B89-EC63-466D-B9A0-139638AE1A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91" y="1142995"/>
            <a:ext cx="9144018" cy="457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5537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9CA425-D488-4D2A-B11F-B13389EFAD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0"/>
            <a:ext cx="8229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7675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E1602D-E0A0-4C1D-A301-9FA1993952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91" y="1142995"/>
            <a:ext cx="9144018" cy="457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2345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8C865A-9991-4F7F-8397-7A4FAC3C71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0"/>
            <a:ext cx="8229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3435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834A98-0668-434E-953F-AE929746D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947" y="2235306"/>
            <a:ext cx="10719547" cy="2720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236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1089</TotalTime>
  <Words>474</Words>
  <Application>Microsoft Office PowerPoint</Application>
  <PresentationFormat>Widescreen</PresentationFormat>
  <Paragraphs>24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Courier New</vt:lpstr>
      <vt:lpstr>Times New Roman</vt:lpstr>
      <vt:lpstr>Office Theme</vt:lpstr>
      <vt:lpstr>Lettuces –phenotype investigation</vt:lpstr>
      <vt:lpstr>RGB images dataset</vt:lpstr>
      <vt:lpstr>LR of mean of hue values for the plant</vt:lpstr>
      <vt:lpstr>PowerPoint Presentation</vt:lpstr>
      <vt:lpstr>LR of mean of saturation values for the plant</vt:lpstr>
      <vt:lpstr>PowerPoint Presentation</vt:lpstr>
      <vt:lpstr>LR of mean of value values for the plant</vt:lpstr>
      <vt:lpstr>PowerPoint Presentation</vt:lpstr>
      <vt:lpstr>LR of  hsv means for the plant</vt:lpstr>
      <vt:lpstr>PowerPoint Presentation</vt:lpstr>
      <vt:lpstr>Hyper spectral images dataset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Lettuces –phenotype investigation</dc:title>
  <dc:creator>David Ben Michael</dc:creator>
  <cp:lastModifiedBy>David Ben Michael</cp:lastModifiedBy>
  <cp:revision>35</cp:revision>
  <dcterms:created xsi:type="dcterms:W3CDTF">2025-12-10T15:17:37Z</dcterms:created>
  <dcterms:modified xsi:type="dcterms:W3CDTF">2025-12-31T15:54:51Z</dcterms:modified>
</cp:coreProperties>
</file>