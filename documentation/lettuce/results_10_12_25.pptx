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9" r:id="rId4"/>
    <p:sldId id="260" r:id="rId5"/>
    <p:sldId id="261" r:id="rId6"/>
    <p:sldId id="262" r:id="rId7"/>
    <p:sldId id="258" r:id="rId8"/>
    <p:sldId id="263" r:id="rId9"/>
    <p:sldId id="264" r:id="rId10"/>
  </p:sldIdLst>
  <p:sldSz cx="12192000" cy="6858000"/>
  <p:notesSz cx="6858000" cy="9144000"/>
  <p:defaultTextStyle>
    <a:defPPr>
      <a:defRPr lang="he-I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5" d="100"/>
          <a:sy n="95" d="100"/>
        </p:scale>
        <p:origin x="632" y="68"/>
      </p:cViewPr>
      <p:guideLst/>
    </p:cSldViewPr>
  </p:slideViewPr>
  <p:notesTextViewPr>
    <p:cViewPr>
      <p:scale>
        <a:sx n="1" d="1"/>
        <a:sy n="1" d="1"/>
      </p:scale>
      <p:origin x="0" y="-4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endParaRPr lang="he-IL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fld id="{7E3B3F78-FC28-4CDC-8FF5-F2C1B27C03E5}" type="datetimeFigureOut">
              <a:rPr lang="he-IL" smtClean="0"/>
              <a:t>י"ב/טבת/תשפ"ו</a:t>
            </a:fld>
            <a:endParaRPr lang="he-IL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he-IL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fld id="{C9832EB2-F6E2-49AF-AE8C-E496C1FCADDF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5462403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band1: 507, </a:t>
            </a:r>
          </a:p>
          <a:p>
            <a:r>
              <a:rPr lang="en-US"/>
              <a:t>Band2: 583</a:t>
            </a:r>
            <a:endParaRPr lang="he-I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832EB2-F6E2-49AF-AE8C-E496C1FCADDF}" type="slidenum">
              <a:rPr lang="he-IL" smtClean="0"/>
              <a:t>9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1975062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F716DA-7C5B-49C8-9E2C-49D4AC2D548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7C87DE0-04B5-4C38-91F2-5385B964FE7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he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7BF558-0A70-4EDE-9431-50782D9094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0CCF04-8CF0-4E36-8BA4-B3428484C0CB}" type="datetimeFigureOut">
              <a:rPr lang="he-IL" smtClean="0"/>
              <a:t>י"ב/טבת/תשפ"ו</a:t>
            </a:fld>
            <a:endParaRPr lang="he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88D16A-45B8-4CB5-ABF1-A02CD2C0D2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0CEE3E-B565-408F-9762-E2D84C4A07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86C240-F336-4EB4-981C-707E0B6BDAE0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4997609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072F50-B751-458C-8DCA-DA5AA0C3A2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D1E285-D81B-4AA7-B792-1FFAAA729B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02B7E3-B618-43B2-8257-5CD2D6D21E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0CCF04-8CF0-4E36-8BA4-B3428484C0CB}" type="datetimeFigureOut">
              <a:rPr lang="he-IL" smtClean="0"/>
              <a:t>י"ב/טבת/תשפ"ו</a:t>
            </a:fld>
            <a:endParaRPr lang="he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55535D-C2E8-4FDB-AA9A-FB183E249E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F6120B-5D75-4A95-AAFC-055CAC0C76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86C240-F336-4EB4-981C-707E0B6BDAE0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6971373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793A18-A628-4DF8-B168-A4EDBCB643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7FB289B-45B2-4DB7-A0A9-C4A15D80AA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F26C51-ACF8-48C6-BAAA-EE4A864B8F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0CCF04-8CF0-4E36-8BA4-B3428484C0CB}" type="datetimeFigureOut">
              <a:rPr lang="he-IL" smtClean="0"/>
              <a:t>י"ב/טבת/תשפ"ו</a:t>
            </a:fld>
            <a:endParaRPr lang="he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A6EF2B-FE36-416F-B634-D2B7E99B76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347518-E68F-449C-A713-754B26F8EC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86C240-F336-4EB4-981C-707E0B6BDAE0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4682624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DE3DA7-338B-4866-A1B0-87951F8761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2BCCD5-3427-4736-B591-3ED709A08DF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6087771-C40E-49DF-89B1-5875524571E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FB6D091-8088-4175-8D3F-385D831009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0CCF04-8CF0-4E36-8BA4-B3428484C0CB}" type="datetimeFigureOut">
              <a:rPr lang="he-IL" smtClean="0"/>
              <a:t>י"ב/טבת/תשפ"ו</a:t>
            </a:fld>
            <a:endParaRPr lang="he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BA8DBC6-F448-4F9F-ABC0-078D2CD8D8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F30DC1A-5C50-4AD5-87B7-09C9B31988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86C240-F336-4EB4-981C-707E0B6BDAE0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9344350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4DB2C-26A3-4875-ABC9-2986D4CA2A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00C2C6-16BB-447C-A835-9624CEE46C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E78CBA-F652-4C07-95AC-B5CB0FFE011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69CAD2C-B91B-4F88-A30C-570198B67D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E92F01E-9832-475D-B2B4-51EC43B4BC9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8C1B076-BA0F-44FB-AD6E-C1442EDF1F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0CCF04-8CF0-4E36-8BA4-B3428484C0CB}" type="datetimeFigureOut">
              <a:rPr lang="he-IL" smtClean="0"/>
              <a:t>י"ב/טבת/תשפ"ו</a:t>
            </a:fld>
            <a:endParaRPr lang="he-I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B1BABDF-249C-4A28-9B1F-F97E9EBDD6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049234F-DAA5-482A-96BD-68A02A5982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86C240-F336-4EB4-981C-707E0B6BDAE0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693596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DE9FE9-D0D8-4B65-8729-9FCC540788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5F683E9-2A19-41D0-A844-703276A0B4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0CCF04-8CF0-4E36-8BA4-B3428484C0CB}" type="datetimeFigureOut">
              <a:rPr lang="he-IL" smtClean="0"/>
              <a:t>י"ב/טבת/תשפ"ו</a:t>
            </a:fld>
            <a:endParaRPr lang="he-I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4C32130-17ED-4EAD-9C66-82C9DF3C74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B079692-9D23-45F9-8075-70E0765486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86C240-F336-4EB4-981C-707E0B6BDAE0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537804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89EED29-AE1D-4895-A62B-91BC29474A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0CCF04-8CF0-4E36-8BA4-B3428484C0CB}" type="datetimeFigureOut">
              <a:rPr lang="he-IL" smtClean="0"/>
              <a:t>י"ב/טבת/תשפ"ו</a:t>
            </a:fld>
            <a:endParaRPr lang="he-I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B2C2BDE-7928-4C7F-BF4B-CBCC04E456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4332BF-8AB9-40DD-A245-DA7B4FF1A2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86C240-F336-4EB4-981C-707E0B6BDAE0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7703985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1B4BCA-1B9A-477A-9E20-FEE6B7A206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AA0D14-211B-41FB-B79C-1C52CBBFE0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8605AA-3925-46CA-A208-55966570FB9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6D4E9EC-593F-47A3-B1A4-1E4743C276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0CCF04-8CF0-4E36-8BA4-B3428484C0CB}" type="datetimeFigureOut">
              <a:rPr lang="he-IL" smtClean="0"/>
              <a:t>י"ב/טבת/תשפ"ו</a:t>
            </a:fld>
            <a:endParaRPr lang="he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CC61401-0463-4281-AF33-1AE1B7E759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720FAA-254E-4721-A4A2-7271991ED8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86C240-F336-4EB4-981C-707E0B6BDAE0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1646265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09FBA0-EA4C-40FC-BFED-FD20561158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4CFBAC5-A0DC-45A3-A27A-41E512E145C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e-I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42E9728-5516-47A6-9B0E-729B5E337E6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F1E945E-78C2-4452-B775-75ECF6C738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0CCF04-8CF0-4E36-8BA4-B3428484C0CB}" type="datetimeFigureOut">
              <a:rPr lang="he-IL" smtClean="0"/>
              <a:t>י"ב/טבת/תשפ"ו</a:t>
            </a:fld>
            <a:endParaRPr lang="he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4737FDE-BE17-4CD7-A59D-58EE694E14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AF2A52-8E04-458A-BB53-70E4017E5E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86C240-F336-4EB4-981C-707E0B6BDAE0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1923162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19FEDC-924B-4CA0-9F3A-518179EE75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79C3150-7B71-4278-BB00-E42BEB5102F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B8296F-CF9B-4004-B84E-251252641F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0CCF04-8CF0-4E36-8BA4-B3428484C0CB}" type="datetimeFigureOut">
              <a:rPr lang="he-IL" smtClean="0"/>
              <a:t>י"ב/טבת/תשפ"ו</a:t>
            </a:fld>
            <a:endParaRPr lang="he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D384C5-CC92-42F7-918B-937B2691D7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C94B19-7C8B-4E3E-82A5-C7253221E8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86C240-F336-4EB4-981C-707E0B6BDAE0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6382051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38889F3-C339-4D9D-95FA-73529F71FB6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B96739-DAC5-4231-A573-E5F51216F3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D9763C-B059-49FC-BB8A-5526B448F4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0CCF04-8CF0-4E36-8BA4-B3428484C0CB}" type="datetimeFigureOut">
              <a:rPr lang="he-IL" smtClean="0"/>
              <a:t>י"ב/טבת/תשפ"ו</a:t>
            </a:fld>
            <a:endParaRPr lang="he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051A51-BBDD-4002-96F6-62ECBDB462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214B0C-75B9-42D7-B99A-D8E85C8417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86C240-F336-4EB4-981C-707E0B6BDAE0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7381746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445C618-7D40-41B9-BF54-014F576EBC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4B23AD-10DE-4F21-BDBA-658B989C0F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93FF4A-664D-4289-BEAC-54F44DAD42D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0CCF04-8CF0-4E36-8BA4-B3428484C0CB}" type="datetimeFigureOut">
              <a:rPr lang="he-IL" smtClean="0"/>
              <a:t>י"ב/טבת/תשפ"ו</a:t>
            </a:fld>
            <a:endParaRPr lang="he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C44B04-56AE-4EA2-81C7-2C142CE93E7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he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870077-A14A-4718-B56C-A40858F9CA1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586C240-F336-4EB4-981C-707E0B6BDAE0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0654613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e-I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drive.google.com/drive/folders/1wnxS5YJypMqngePK91D0i_cqjffqLw5l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B47612D6-B176-496F-9C34-79FD3025A88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Lettuces –phenotype investigation</a:t>
            </a:r>
            <a:endParaRPr lang="he-IL" dirty="0"/>
          </a:p>
        </p:txBody>
      </p:sp>
      <p:sp>
        <p:nvSpPr>
          <p:cNvPr id="6" name="Subtitle 5">
            <a:extLst>
              <a:ext uri="{FF2B5EF4-FFF2-40B4-BE49-F238E27FC236}">
                <a16:creationId xmlns:a16="http://schemas.microsoft.com/office/drawing/2014/main" id="{5F241F71-08DA-4B0E-BF75-35087B24F15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The results based on dataset crafted</a:t>
            </a:r>
          </a:p>
          <a:p>
            <a:r>
              <a:rPr lang="en-US" dirty="0"/>
              <a:t> from BNEI-ATAROT lettuces greenhouse </a:t>
            </a:r>
          </a:p>
          <a:p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41875660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BC4E4A-B5F0-4F14-BBBA-049D53D020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RAW DATA </a:t>
            </a:r>
            <a:endParaRPr lang="he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E3794A-FE68-4123-8F16-6A885EC1F1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9247" y="1825625"/>
            <a:ext cx="5600700" cy="4351338"/>
          </a:xfrm>
        </p:spPr>
        <p:txBody>
          <a:bodyPr>
            <a:normAutofit/>
          </a:bodyPr>
          <a:lstStyle/>
          <a:p>
            <a:pPr>
              <a:lnSpc>
                <a:spcPct val="170000"/>
              </a:lnSpc>
            </a:pPr>
            <a:r>
              <a:rPr lang="en-US" sz="1800" dirty="0"/>
              <a:t>Scientific explanation on the project can be found </a:t>
            </a:r>
            <a:r>
              <a:rPr lang="en-US" sz="1800" u="sng" dirty="0">
                <a:hlinkClick r:id="rId2"/>
              </a:rPr>
              <a:t>here</a:t>
            </a:r>
            <a:r>
              <a:rPr lang="en-US" sz="1800" dirty="0"/>
              <a:t>.</a:t>
            </a:r>
          </a:p>
          <a:p>
            <a:pPr>
              <a:lnSpc>
                <a:spcPct val="170000"/>
              </a:lnSpc>
            </a:pPr>
            <a:r>
              <a:rPr lang="en-US" sz="1800" dirty="0"/>
              <a:t>Every time we take Hyper Spectral pictures of the lettuces we number them from 1 to 8. The mapping between them is as the follow:</a:t>
            </a:r>
            <a:endParaRPr lang="en-US" sz="1800" dirty="0">
              <a:effectLst/>
            </a:endParaRPr>
          </a:p>
          <a:p>
            <a:pPr lvl="1">
              <a:lnSpc>
                <a:spcPct val="170000"/>
              </a:lnSpc>
            </a:pPr>
            <a:r>
              <a:rPr lang="en-US" sz="1400" dirty="0"/>
              <a:t>Number 1:6 are correspond to plot : R1,G1,R6,G6,R11,G11</a:t>
            </a:r>
            <a:endParaRPr lang="en-US" sz="1400" dirty="0">
              <a:effectLst/>
            </a:endParaRPr>
          </a:p>
          <a:p>
            <a:pPr lvl="1">
              <a:lnSpc>
                <a:spcPct val="170000"/>
              </a:lnSpc>
            </a:pPr>
            <a:r>
              <a:rPr lang="en-US" sz="1400" dirty="0"/>
              <a:t>Number 7:8 are control group and correspond to C1,C6</a:t>
            </a:r>
            <a:endParaRPr lang="en-US" sz="1400" dirty="0">
              <a:effectLst/>
            </a:endParaRPr>
          </a:p>
          <a:p>
            <a:pPr>
              <a:lnSpc>
                <a:spcPct val="170000"/>
              </a:lnSpc>
            </a:pPr>
            <a:r>
              <a:rPr lang="en-US" sz="1800" dirty="0">
                <a:effectLst/>
              </a:rPr>
              <a:t>Every time we take 5 different pictures with replacements of the places of the lettuces.</a:t>
            </a:r>
          </a:p>
          <a:p>
            <a:pPr>
              <a:lnSpc>
                <a:spcPct val="170000"/>
              </a:lnSpc>
            </a:pPr>
            <a:endParaRPr lang="en-US" sz="1800" dirty="0">
              <a:effectLst/>
            </a:endParaRPr>
          </a:p>
          <a:p>
            <a:pPr>
              <a:lnSpc>
                <a:spcPct val="170000"/>
              </a:lnSpc>
            </a:pPr>
            <a:endParaRPr lang="he-IL" sz="1800" dirty="0"/>
          </a:p>
        </p:txBody>
      </p:sp>
      <p:pic>
        <p:nvPicPr>
          <p:cNvPr id="4" name="Picture 3" descr="\\10.26.94.14\PhenomobileData\DavidDataForTest\Phenomobile\BneiAtarot\2025\20251201\HS\160\160.png">
            <a:extLst>
              <a:ext uri="{FF2B5EF4-FFF2-40B4-BE49-F238E27FC236}">
                <a16:creationId xmlns:a16="http://schemas.microsoft.com/office/drawing/2014/main" id="{E351FC4C-2A9F-46BD-BFBB-F45F0FCD11C9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05918" y="1896035"/>
            <a:ext cx="4011556" cy="368434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8074561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BC4E4A-B5F0-4F14-BBBA-049D53D020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RAW DATA –cont. </a:t>
            </a:r>
            <a:endParaRPr lang="he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E3794A-FE68-4123-8F16-6A885EC1F1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9247" y="1825625"/>
            <a:ext cx="5600700" cy="4351338"/>
          </a:xfrm>
        </p:spPr>
        <p:txBody>
          <a:bodyPr>
            <a:normAutofit fontScale="92500" lnSpcReduction="20000"/>
          </a:bodyPr>
          <a:lstStyle/>
          <a:p>
            <a:pPr>
              <a:lnSpc>
                <a:spcPct val="150000"/>
              </a:lnSpc>
            </a:pPr>
            <a:r>
              <a:rPr lang="en-US" sz="1800" dirty="0"/>
              <a:t>R -stand for Red lettuces </a:t>
            </a:r>
          </a:p>
          <a:p>
            <a:pPr>
              <a:lnSpc>
                <a:spcPct val="150000"/>
              </a:lnSpc>
            </a:pPr>
            <a:r>
              <a:rPr lang="en-US" sz="1800" dirty="0"/>
              <a:t>G- stand for Green lettuces</a:t>
            </a:r>
          </a:p>
          <a:p>
            <a:pPr>
              <a:lnSpc>
                <a:spcPct val="150000"/>
              </a:lnSpc>
            </a:pPr>
            <a:r>
              <a:rPr lang="en-US" sz="1800" dirty="0"/>
              <a:t>C1 belong to the Reds, and  C6 belong to the Greens</a:t>
            </a:r>
          </a:p>
          <a:p>
            <a:pPr>
              <a:lnSpc>
                <a:spcPct val="150000"/>
              </a:lnSpc>
            </a:pPr>
            <a:r>
              <a:rPr lang="en-US" sz="1800" u="sng" dirty="0"/>
              <a:t>Light conditions </a:t>
            </a:r>
            <a:endParaRPr lang="en-US" sz="1800" dirty="0"/>
          </a:p>
          <a:p>
            <a:pPr>
              <a:lnSpc>
                <a:spcPct val="150000"/>
              </a:lnSpc>
            </a:pPr>
            <a:r>
              <a:rPr lang="en-US" sz="1800" dirty="0"/>
              <a:t>Be aware that actually there are only four class and for each class there are two samples:</a:t>
            </a:r>
          </a:p>
          <a:p>
            <a:pPr marL="800100" lvl="1" indent="-342900">
              <a:lnSpc>
                <a:spcPct val="150000"/>
              </a:lnSpc>
              <a:spcAft>
                <a:spcPts val="800"/>
              </a:spcAft>
              <a:buFont typeface="+mj-lt"/>
              <a:buAutoNum type="arabicPeriod"/>
            </a:pP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White and blue Led (R1,G1)</a:t>
            </a:r>
            <a:endParaRPr lang="en-US" sz="1200" dirty="0"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800100" lvl="1" indent="-342900">
              <a:lnSpc>
                <a:spcPct val="150000"/>
              </a:lnSpc>
              <a:spcAft>
                <a:spcPts val="800"/>
              </a:spcAft>
              <a:buFont typeface="+mj-lt"/>
              <a:buAutoNum type="arabicPeriod"/>
            </a:pP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White Led (R6,G6)</a:t>
            </a:r>
            <a:endParaRPr lang="en-US" sz="1200" dirty="0"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800100" lvl="1" indent="-342900">
              <a:lnSpc>
                <a:spcPct val="150000"/>
              </a:lnSpc>
              <a:spcAft>
                <a:spcPts val="800"/>
              </a:spcAft>
              <a:buFont typeface="+mj-lt"/>
              <a:buAutoNum type="arabicPeriod"/>
            </a:pP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Shade (R11,G11)</a:t>
            </a:r>
            <a:endParaRPr lang="en-US" sz="1200" dirty="0"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800100" lvl="1" indent="-342900">
              <a:lnSpc>
                <a:spcPct val="150000"/>
              </a:lnSpc>
              <a:spcAft>
                <a:spcPts val="800"/>
              </a:spcAft>
              <a:buFont typeface="+mj-lt"/>
              <a:buAutoNum type="arabicPeriod"/>
            </a:pP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Control (C1,C6)</a:t>
            </a:r>
            <a:endParaRPr lang="en-US" sz="1200" dirty="0"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>
              <a:lnSpc>
                <a:spcPct val="170000"/>
              </a:lnSpc>
            </a:pPr>
            <a:endParaRPr lang="en-US" sz="1800" dirty="0">
              <a:effectLst/>
            </a:endParaRPr>
          </a:p>
          <a:p>
            <a:pPr>
              <a:lnSpc>
                <a:spcPct val="170000"/>
              </a:lnSpc>
            </a:pPr>
            <a:endParaRPr lang="he-IL" sz="1800" dirty="0"/>
          </a:p>
        </p:txBody>
      </p:sp>
      <p:pic>
        <p:nvPicPr>
          <p:cNvPr id="4" name="Picture 3" descr="\\10.26.94.14\PhenomobileData\DavidDataForTest\Phenomobile\BneiAtarot\2025\20251201\HS\160\160.png">
            <a:extLst>
              <a:ext uri="{FF2B5EF4-FFF2-40B4-BE49-F238E27FC236}">
                <a16:creationId xmlns:a16="http://schemas.microsoft.com/office/drawing/2014/main" id="{E351FC4C-2A9F-46BD-BFBB-F45F0FCD11C9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05918" y="1896035"/>
            <a:ext cx="4011556" cy="368434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9290790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BC4E4A-B5F0-4F14-BBBA-049D53D020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RAW DATA –cont. </a:t>
            </a:r>
            <a:endParaRPr lang="he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E3794A-FE68-4123-8F16-6A885EC1F1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9247" y="1825625"/>
            <a:ext cx="5600700" cy="1031875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1800" dirty="0"/>
              <a:t>For every batch of images we annotated the bounding box of the lettuces.</a:t>
            </a:r>
            <a:endParaRPr lang="en-US" sz="1200" dirty="0"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>
              <a:lnSpc>
                <a:spcPct val="170000"/>
              </a:lnSpc>
            </a:pPr>
            <a:endParaRPr lang="en-US" sz="1800" dirty="0">
              <a:effectLst/>
            </a:endParaRPr>
          </a:p>
          <a:p>
            <a:pPr>
              <a:lnSpc>
                <a:spcPct val="170000"/>
              </a:lnSpc>
            </a:pPr>
            <a:endParaRPr lang="he-IL" sz="1800" dirty="0"/>
          </a:p>
        </p:txBody>
      </p:sp>
      <p:pic>
        <p:nvPicPr>
          <p:cNvPr id="4" name="Picture 3" descr="\\10.26.94.14\PhenomobileData\DavidDataForTest\Phenomobile\BneiAtarot\2025\20251201\HS\160\160.png">
            <a:extLst>
              <a:ext uri="{FF2B5EF4-FFF2-40B4-BE49-F238E27FC236}">
                <a16:creationId xmlns:a16="http://schemas.microsoft.com/office/drawing/2014/main" id="{E351FC4C-2A9F-46BD-BFBB-F45F0FCD11C9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47112" y="2435359"/>
            <a:ext cx="4011556" cy="3684345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8CD6A03-00A2-4D2E-9201-AA2DBE9285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9247" y="2992437"/>
            <a:ext cx="5996267" cy="31272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12019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BC4E4A-B5F0-4F14-BBBA-049D53D020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Hyper –parameters Dataset</a:t>
            </a:r>
            <a:endParaRPr lang="he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E3794A-FE68-4123-8F16-6A885EC1F1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9247" y="1825625"/>
            <a:ext cx="5600700" cy="1031875"/>
          </a:xfrm>
        </p:spPr>
        <p:txBody>
          <a:bodyPr>
            <a:normAutofit fontScale="92500"/>
          </a:bodyPr>
          <a:lstStyle/>
          <a:p>
            <a:pPr>
              <a:lnSpc>
                <a:spcPct val="150000"/>
              </a:lnSpc>
            </a:pPr>
            <a:r>
              <a:rPr lang="en-US" sz="1800" dirty="0"/>
              <a:t>From the raw dataset we extract the hyper-parameters dataset that contain the vegetation indices for each object </a:t>
            </a:r>
            <a:endParaRPr lang="en-US" sz="1200" dirty="0"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>
              <a:lnSpc>
                <a:spcPct val="170000"/>
              </a:lnSpc>
            </a:pPr>
            <a:endParaRPr lang="en-US" sz="1800" dirty="0">
              <a:effectLst/>
            </a:endParaRPr>
          </a:p>
          <a:p>
            <a:pPr>
              <a:lnSpc>
                <a:spcPct val="170000"/>
              </a:lnSpc>
            </a:pPr>
            <a:endParaRPr lang="he-IL" sz="1800" dirty="0"/>
          </a:p>
        </p:txBody>
      </p:sp>
      <p:pic>
        <p:nvPicPr>
          <p:cNvPr id="4" name="Picture 3" descr="\\10.26.94.14\PhenomobileData\DavidDataForTest\Phenomobile\BneiAtarot\2025\20251201\HS\160\160.png">
            <a:extLst>
              <a:ext uri="{FF2B5EF4-FFF2-40B4-BE49-F238E27FC236}">
                <a16:creationId xmlns:a16="http://schemas.microsoft.com/office/drawing/2014/main" id="{E351FC4C-2A9F-46BD-BFBB-F45F0FCD11C9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47112" y="2435359"/>
            <a:ext cx="4011556" cy="3684345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0A0C80A-D0D2-4FD8-8488-EDC02EF64F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1877" y="3080608"/>
            <a:ext cx="6353735" cy="27873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48231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BC4E4A-B5F0-4F14-BBBA-049D53D020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 Dataset</a:t>
            </a:r>
            <a:endParaRPr lang="he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E3794A-FE68-4123-8F16-6A885EC1F1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9247" y="1825625"/>
            <a:ext cx="3839135" cy="1603375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150000"/>
              </a:lnSpc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We receive the reference dataset with the Anthocyanin test and we merge them together for machine learning classification and regression</a:t>
            </a:r>
            <a:endParaRPr lang="en-US" sz="1200" dirty="0"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>
              <a:lnSpc>
                <a:spcPct val="170000"/>
              </a:lnSpc>
            </a:pPr>
            <a:endParaRPr lang="en-US" sz="1800" dirty="0">
              <a:effectLst/>
            </a:endParaRPr>
          </a:p>
          <a:p>
            <a:pPr>
              <a:lnSpc>
                <a:spcPct val="170000"/>
              </a:lnSpc>
            </a:pPr>
            <a:endParaRPr lang="he-IL" sz="1800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05B28557-DE5C-47E8-B459-ED2EE2A6A19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03175324"/>
              </p:ext>
            </p:extLst>
          </p:nvPr>
        </p:nvGraphicFramePr>
        <p:xfrm>
          <a:off x="5156946" y="1902124"/>
          <a:ext cx="6400802" cy="3880117"/>
        </p:xfrm>
        <a:graphic>
          <a:graphicData uri="http://schemas.openxmlformats.org/drawingml/2006/table">
            <a:tbl>
              <a:tblPr>
                <a:tableStyleId>{69C7853C-536D-4A76-A0AE-DD22124D55A5}</a:tableStyleId>
              </a:tblPr>
              <a:tblGrid>
                <a:gridCol w="783157">
                  <a:extLst>
                    <a:ext uri="{9D8B030D-6E8A-4147-A177-3AD203B41FA5}">
                      <a16:colId xmlns:a16="http://schemas.microsoft.com/office/drawing/2014/main" val="1839400138"/>
                    </a:ext>
                  </a:extLst>
                </a:gridCol>
                <a:gridCol w="783157">
                  <a:extLst>
                    <a:ext uri="{9D8B030D-6E8A-4147-A177-3AD203B41FA5}">
                      <a16:colId xmlns:a16="http://schemas.microsoft.com/office/drawing/2014/main" val="1927140787"/>
                    </a:ext>
                  </a:extLst>
                </a:gridCol>
                <a:gridCol w="783157">
                  <a:extLst>
                    <a:ext uri="{9D8B030D-6E8A-4147-A177-3AD203B41FA5}">
                      <a16:colId xmlns:a16="http://schemas.microsoft.com/office/drawing/2014/main" val="3734917732"/>
                    </a:ext>
                  </a:extLst>
                </a:gridCol>
                <a:gridCol w="783157">
                  <a:extLst>
                    <a:ext uri="{9D8B030D-6E8A-4147-A177-3AD203B41FA5}">
                      <a16:colId xmlns:a16="http://schemas.microsoft.com/office/drawing/2014/main" val="1150500409"/>
                    </a:ext>
                  </a:extLst>
                </a:gridCol>
                <a:gridCol w="783157">
                  <a:extLst>
                    <a:ext uri="{9D8B030D-6E8A-4147-A177-3AD203B41FA5}">
                      <a16:colId xmlns:a16="http://schemas.microsoft.com/office/drawing/2014/main" val="2751951594"/>
                    </a:ext>
                  </a:extLst>
                </a:gridCol>
                <a:gridCol w="783157">
                  <a:extLst>
                    <a:ext uri="{9D8B030D-6E8A-4147-A177-3AD203B41FA5}">
                      <a16:colId xmlns:a16="http://schemas.microsoft.com/office/drawing/2014/main" val="2397131905"/>
                    </a:ext>
                  </a:extLst>
                </a:gridCol>
                <a:gridCol w="783157">
                  <a:extLst>
                    <a:ext uri="{9D8B030D-6E8A-4147-A177-3AD203B41FA5}">
                      <a16:colId xmlns:a16="http://schemas.microsoft.com/office/drawing/2014/main" val="2941538164"/>
                    </a:ext>
                  </a:extLst>
                </a:gridCol>
                <a:gridCol w="918703">
                  <a:extLst>
                    <a:ext uri="{9D8B030D-6E8A-4147-A177-3AD203B41FA5}">
                      <a16:colId xmlns:a16="http://schemas.microsoft.com/office/drawing/2014/main" val="3281681648"/>
                    </a:ext>
                  </a:extLst>
                </a:gridCol>
              </a:tblGrid>
              <a:tr h="745797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1" u="none" strike="noStrike" dirty="0">
                          <a:effectLst/>
                        </a:rPr>
                        <a:t>color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1" u="none" strike="noStrike" dirty="0">
                          <a:effectLst/>
                        </a:rPr>
                        <a:t>catalog id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1" u="none" strike="noStrike" dirty="0">
                          <a:effectLst/>
                        </a:rPr>
                        <a:t>Leaf sample weight (mg)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1" u="none" strike="noStrike" dirty="0">
                          <a:effectLst/>
                        </a:rPr>
                        <a:t>Sample disc weight (g)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1" u="none" strike="noStrike" dirty="0">
                          <a:effectLst/>
                        </a:rPr>
                        <a:t>Anthocyanins OD-530 nm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1" u="none" strike="noStrike" dirty="0">
                          <a:effectLst/>
                        </a:rPr>
                        <a:t>Chlorophyll OD-657 nm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1" u="none" strike="noStrike" dirty="0">
                          <a:effectLst/>
                        </a:rPr>
                        <a:t>Chlorophyll interference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1" u="none" strike="noStrike" dirty="0">
                          <a:effectLst/>
                        </a:rPr>
                        <a:t>Anthocyanin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537254146"/>
                  </a:ext>
                </a:extLst>
              </a:tr>
              <a:tr h="195895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R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R1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he-IL" sz="1100" u="none" strike="noStrike">
                          <a:effectLst/>
                        </a:rPr>
                        <a:t>0.22</a:t>
                      </a:r>
                      <a:endParaRPr lang="he-IL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he-IL" sz="1100" u="none" strike="noStrike">
                          <a:effectLst/>
                        </a:rPr>
                        <a:t>0.03</a:t>
                      </a:r>
                      <a:endParaRPr lang="he-IL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he-IL" sz="1100" u="none" strike="noStrike">
                          <a:effectLst/>
                        </a:rPr>
                        <a:t>0.7162</a:t>
                      </a:r>
                      <a:endParaRPr lang="he-IL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he-IL" sz="1100" u="none" strike="noStrike">
                          <a:effectLst/>
                        </a:rPr>
                        <a:t>0.107</a:t>
                      </a:r>
                      <a:endParaRPr lang="he-IL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he-IL" sz="1100" u="none" strike="noStrike">
                          <a:effectLst/>
                        </a:rPr>
                        <a:t>0.027</a:t>
                      </a:r>
                      <a:endParaRPr lang="he-IL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he-IL" sz="1100" u="none" strike="noStrike">
                          <a:effectLst/>
                        </a:rPr>
                        <a:t>0.689</a:t>
                      </a:r>
                      <a:endParaRPr lang="he-IL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2653815464"/>
                  </a:ext>
                </a:extLst>
              </a:tr>
              <a:tr h="195895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R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R2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he-IL" sz="1100" u="none" strike="noStrike">
                          <a:effectLst/>
                        </a:rPr>
                        <a:t>0.17</a:t>
                      </a:r>
                      <a:endParaRPr lang="he-IL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he-IL" sz="1100" u="none" strike="noStrike">
                          <a:effectLst/>
                        </a:rPr>
                        <a:t>0.03</a:t>
                      </a:r>
                      <a:endParaRPr lang="he-IL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he-IL" sz="1100" u="none" strike="noStrike">
                          <a:effectLst/>
                        </a:rPr>
                        <a:t>0.9472</a:t>
                      </a:r>
                      <a:endParaRPr lang="he-IL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he-IL" sz="1100" u="none" strike="noStrike">
                          <a:effectLst/>
                        </a:rPr>
                        <a:t>0.1053</a:t>
                      </a:r>
                      <a:endParaRPr lang="he-IL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he-IL" sz="1100" u="none" strike="noStrike">
                          <a:effectLst/>
                        </a:rPr>
                        <a:t>0.026</a:t>
                      </a:r>
                      <a:endParaRPr lang="he-IL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he-IL" sz="1100" u="none" strike="noStrike">
                          <a:effectLst/>
                        </a:rPr>
                        <a:t>0.921</a:t>
                      </a:r>
                      <a:endParaRPr lang="he-IL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2220232700"/>
                  </a:ext>
                </a:extLst>
              </a:tr>
              <a:tr h="195895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R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R3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he-IL" sz="1100" u="none" strike="noStrike">
                          <a:effectLst/>
                        </a:rPr>
                        <a:t>0.28</a:t>
                      </a:r>
                      <a:endParaRPr lang="he-IL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he-IL" sz="1100" u="none" strike="noStrike">
                          <a:effectLst/>
                        </a:rPr>
                        <a:t>0.03</a:t>
                      </a:r>
                      <a:endParaRPr lang="he-IL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he-IL" sz="1100" u="none" strike="noStrike">
                          <a:effectLst/>
                        </a:rPr>
                        <a:t>0.5231</a:t>
                      </a:r>
                      <a:endParaRPr lang="he-IL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he-IL" sz="1100" u="none" strike="noStrike">
                          <a:effectLst/>
                        </a:rPr>
                        <a:t>0.1204</a:t>
                      </a:r>
                      <a:endParaRPr lang="he-IL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he-IL" sz="1100" u="none" strike="noStrike">
                          <a:effectLst/>
                        </a:rPr>
                        <a:t>0.03</a:t>
                      </a:r>
                      <a:endParaRPr lang="he-IL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he-IL" sz="1100" u="none" strike="noStrike">
                          <a:effectLst/>
                        </a:rPr>
                        <a:t>0.493</a:t>
                      </a:r>
                      <a:endParaRPr lang="he-IL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016509477"/>
                  </a:ext>
                </a:extLst>
              </a:tr>
              <a:tr h="195895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R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R4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he-IL" sz="1100" u="none" strike="noStrike">
                          <a:effectLst/>
                        </a:rPr>
                        <a:t>0.39</a:t>
                      </a:r>
                      <a:endParaRPr lang="he-IL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he-IL" sz="1100" u="none" strike="noStrike">
                          <a:effectLst/>
                        </a:rPr>
                        <a:t>0.03</a:t>
                      </a:r>
                      <a:endParaRPr lang="he-IL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he-IL" sz="1100" u="none" strike="noStrike">
                          <a:effectLst/>
                        </a:rPr>
                        <a:t>1.1758</a:t>
                      </a:r>
                      <a:endParaRPr lang="he-IL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he-IL" sz="1100" u="none" strike="noStrike">
                          <a:effectLst/>
                        </a:rPr>
                        <a:t>0.1733</a:t>
                      </a:r>
                      <a:endParaRPr lang="he-IL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he-IL" sz="1100" u="none" strike="noStrike">
                          <a:effectLst/>
                        </a:rPr>
                        <a:t>0.043</a:t>
                      </a:r>
                      <a:endParaRPr lang="he-IL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he-IL" sz="1100" u="none" strike="noStrike">
                          <a:effectLst/>
                        </a:rPr>
                        <a:t>1.132</a:t>
                      </a:r>
                      <a:endParaRPr lang="he-IL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92281076"/>
                  </a:ext>
                </a:extLst>
              </a:tr>
              <a:tr h="195895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R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R5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he-IL" sz="1100" u="none" strike="noStrike">
                          <a:effectLst/>
                        </a:rPr>
                        <a:t>0.22</a:t>
                      </a:r>
                      <a:endParaRPr lang="he-IL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he-IL" sz="1100" u="none" strike="noStrike">
                          <a:effectLst/>
                        </a:rPr>
                        <a:t>0.03</a:t>
                      </a:r>
                      <a:endParaRPr lang="he-IL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he-IL" sz="1100" u="none" strike="noStrike">
                          <a:effectLst/>
                        </a:rPr>
                        <a:t>0.8803</a:t>
                      </a:r>
                      <a:endParaRPr lang="he-IL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he-IL" sz="1100" u="none" strike="noStrike">
                          <a:effectLst/>
                        </a:rPr>
                        <a:t>0.1148</a:t>
                      </a:r>
                      <a:endParaRPr lang="he-IL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he-IL" sz="1100" u="none" strike="noStrike">
                          <a:effectLst/>
                        </a:rPr>
                        <a:t>0.029</a:t>
                      </a:r>
                      <a:endParaRPr lang="he-IL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he-IL" sz="1100" u="none" strike="noStrike">
                          <a:effectLst/>
                        </a:rPr>
                        <a:t>0.852</a:t>
                      </a:r>
                      <a:endParaRPr lang="he-IL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409399624"/>
                  </a:ext>
                </a:extLst>
              </a:tr>
              <a:tr h="195895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R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R6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he-IL" sz="1100" u="none" strike="noStrike">
                          <a:effectLst/>
                        </a:rPr>
                        <a:t>0.19</a:t>
                      </a:r>
                      <a:endParaRPr lang="he-IL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he-IL" sz="1100" u="none" strike="noStrike">
                          <a:effectLst/>
                        </a:rPr>
                        <a:t>0.03</a:t>
                      </a:r>
                      <a:endParaRPr lang="he-IL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he-IL" sz="1100" u="none" strike="noStrike">
                          <a:effectLst/>
                        </a:rPr>
                        <a:t>1.305</a:t>
                      </a:r>
                      <a:endParaRPr lang="he-IL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he-IL" sz="1100" u="none" strike="noStrike">
                          <a:effectLst/>
                        </a:rPr>
                        <a:t>0.1175</a:t>
                      </a:r>
                      <a:endParaRPr lang="he-IL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he-IL" sz="1100" u="none" strike="noStrike">
                          <a:effectLst/>
                        </a:rPr>
                        <a:t>0.029</a:t>
                      </a:r>
                      <a:endParaRPr lang="he-IL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he-IL" sz="1100" u="none" strike="noStrike">
                          <a:effectLst/>
                        </a:rPr>
                        <a:t>1.276</a:t>
                      </a:r>
                      <a:endParaRPr lang="he-IL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4049857415"/>
                  </a:ext>
                </a:extLst>
              </a:tr>
              <a:tr h="195895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R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R7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he-IL" sz="1100" u="none" strike="noStrike">
                          <a:effectLst/>
                        </a:rPr>
                        <a:t>0.17</a:t>
                      </a:r>
                      <a:endParaRPr lang="he-IL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he-IL" sz="1100" u="none" strike="noStrike">
                          <a:effectLst/>
                        </a:rPr>
                        <a:t>0.03</a:t>
                      </a:r>
                      <a:endParaRPr lang="he-IL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he-IL" sz="1100" u="none" strike="noStrike">
                          <a:effectLst/>
                        </a:rPr>
                        <a:t>0.4376</a:t>
                      </a:r>
                      <a:endParaRPr lang="he-IL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he-IL" sz="1100" u="none" strike="noStrike">
                          <a:effectLst/>
                        </a:rPr>
                        <a:t>0.1128</a:t>
                      </a:r>
                      <a:endParaRPr lang="he-IL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he-IL" sz="1100" u="none" strike="noStrike">
                          <a:effectLst/>
                        </a:rPr>
                        <a:t>0.028</a:t>
                      </a:r>
                      <a:endParaRPr lang="he-IL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he-IL" sz="1100" u="none" strike="noStrike">
                          <a:effectLst/>
                        </a:rPr>
                        <a:t>0.409</a:t>
                      </a:r>
                      <a:endParaRPr lang="he-IL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3935230948"/>
                  </a:ext>
                </a:extLst>
              </a:tr>
              <a:tr h="195895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R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R8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he-IL" sz="1100" u="none" strike="noStrike">
                          <a:effectLst/>
                        </a:rPr>
                        <a:t>0.19</a:t>
                      </a:r>
                      <a:endParaRPr lang="he-IL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he-IL" sz="1100" u="none" strike="noStrike">
                          <a:effectLst/>
                        </a:rPr>
                        <a:t>0.03</a:t>
                      </a:r>
                      <a:endParaRPr lang="he-IL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he-IL" sz="1100" u="none" strike="noStrike">
                          <a:effectLst/>
                        </a:rPr>
                        <a:t>1.021</a:t>
                      </a:r>
                      <a:endParaRPr lang="he-IL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he-IL" sz="1100" u="none" strike="noStrike" dirty="0">
                          <a:effectLst/>
                        </a:rPr>
                        <a:t>0.0999</a:t>
                      </a:r>
                      <a:endParaRPr lang="he-IL" sz="11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he-IL" sz="1100" u="none" strike="noStrike">
                          <a:effectLst/>
                        </a:rPr>
                        <a:t>0.025</a:t>
                      </a:r>
                      <a:endParaRPr lang="he-IL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he-IL" sz="1100" u="none" strike="noStrike">
                          <a:effectLst/>
                        </a:rPr>
                        <a:t>0.996</a:t>
                      </a:r>
                      <a:endParaRPr lang="he-IL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4157526197"/>
                  </a:ext>
                </a:extLst>
              </a:tr>
              <a:tr h="195895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R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R9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he-IL" sz="1100" u="none" strike="noStrike">
                          <a:effectLst/>
                        </a:rPr>
                        <a:t>0.22</a:t>
                      </a:r>
                      <a:endParaRPr lang="he-IL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he-IL" sz="1100" u="none" strike="noStrike">
                          <a:effectLst/>
                        </a:rPr>
                        <a:t>0.03</a:t>
                      </a:r>
                      <a:endParaRPr lang="he-IL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he-IL" sz="1100" u="none" strike="noStrike">
                          <a:effectLst/>
                        </a:rPr>
                        <a:t>0.8077</a:t>
                      </a:r>
                      <a:endParaRPr lang="he-IL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he-IL" sz="1100" u="none" strike="noStrike" dirty="0">
                          <a:effectLst/>
                        </a:rPr>
                        <a:t>0.0893</a:t>
                      </a:r>
                      <a:endParaRPr lang="he-IL" sz="11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he-IL" sz="1100" u="none" strike="noStrike">
                          <a:effectLst/>
                        </a:rPr>
                        <a:t>0.022</a:t>
                      </a:r>
                      <a:endParaRPr lang="he-IL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he-IL" sz="1100" u="none" strike="noStrike" dirty="0">
                          <a:effectLst/>
                        </a:rPr>
                        <a:t>0.785</a:t>
                      </a:r>
                      <a:endParaRPr lang="he-IL" sz="11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464831889"/>
                  </a:ext>
                </a:extLst>
              </a:tr>
              <a:tr h="195895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R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R10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he-IL" sz="1100" u="none" strike="noStrike">
                          <a:effectLst/>
                        </a:rPr>
                        <a:t>0.15</a:t>
                      </a:r>
                      <a:endParaRPr lang="he-IL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he-IL" sz="1100" u="none" strike="noStrike">
                          <a:effectLst/>
                        </a:rPr>
                        <a:t>0.03</a:t>
                      </a:r>
                      <a:endParaRPr lang="he-IL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he-IL" sz="1100" u="none" strike="noStrike">
                          <a:effectLst/>
                        </a:rPr>
                        <a:t>0.8298</a:t>
                      </a:r>
                      <a:endParaRPr lang="he-IL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he-IL" sz="1100" u="none" strike="noStrike">
                          <a:effectLst/>
                        </a:rPr>
                        <a:t>0.0927</a:t>
                      </a:r>
                      <a:endParaRPr lang="he-IL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he-IL" sz="1100" u="none" strike="noStrike">
                          <a:effectLst/>
                        </a:rPr>
                        <a:t>0.023</a:t>
                      </a:r>
                      <a:endParaRPr lang="he-IL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he-IL" sz="1100" u="none" strike="noStrike">
                          <a:effectLst/>
                        </a:rPr>
                        <a:t>0.807</a:t>
                      </a:r>
                      <a:endParaRPr lang="he-IL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450469399"/>
                  </a:ext>
                </a:extLst>
              </a:tr>
              <a:tr h="195895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R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R11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he-IL" sz="1100" u="none" strike="noStrike">
                          <a:effectLst/>
                        </a:rPr>
                        <a:t>0.18</a:t>
                      </a:r>
                      <a:endParaRPr lang="he-IL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he-IL" sz="1100" u="none" strike="noStrike">
                          <a:effectLst/>
                        </a:rPr>
                        <a:t>0.03</a:t>
                      </a:r>
                      <a:endParaRPr lang="he-IL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he-IL" sz="1100" u="none" strike="noStrike">
                          <a:effectLst/>
                        </a:rPr>
                        <a:t>0.5975</a:t>
                      </a:r>
                      <a:endParaRPr lang="he-IL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he-IL" sz="1100" u="none" strike="noStrike">
                          <a:effectLst/>
                        </a:rPr>
                        <a:t>0.0988</a:t>
                      </a:r>
                      <a:endParaRPr lang="he-IL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he-IL" sz="1100" u="none" strike="noStrike">
                          <a:effectLst/>
                        </a:rPr>
                        <a:t>0.025</a:t>
                      </a:r>
                      <a:endParaRPr lang="he-IL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he-IL" sz="1100" u="none" strike="noStrike">
                          <a:effectLst/>
                        </a:rPr>
                        <a:t>0.573</a:t>
                      </a:r>
                      <a:endParaRPr lang="he-IL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4261740275"/>
                  </a:ext>
                </a:extLst>
              </a:tr>
              <a:tr h="195895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R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R12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he-IL" sz="1100" u="none" strike="noStrike">
                          <a:effectLst/>
                        </a:rPr>
                        <a:t>0.23</a:t>
                      </a:r>
                      <a:endParaRPr lang="he-IL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he-IL" sz="1100" u="none" strike="noStrike">
                          <a:effectLst/>
                        </a:rPr>
                        <a:t>0.03</a:t>
                      </a:r>
                      <a:endParaRPr lang="he-IL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he-IL" sz="1100" u="none" strike="noStrike">
                          <a:effectLst/>
                        </a:rPr>
                        <a:t>0.3081</a:t>
                      </a:r>
                      <a:endParaRPr lang="he-IL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he-IL" sz="1100" u="none" strike="noStrike">
                          <a:effectLst/>
                        </a:rPr>
                        <a:t>0.0959</a:t>
                      </a:r>
                      <a:endParaRPr lang="he-IL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he-IL" sz="1100" u="none" strike="noStrike">
                          <a:effectLst/>
                        </a:rPr>
                        <a:t>0.024</a:t>
                      </a:r>
                      <a:endParaRPr lang="he-IL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he-IL" sz="1100" u="none" strike="noStrike">
                          <a:effectLst/>
                        </a:rPr>
                        <a:t>0.284</a:t>
                      </a:r>
                      <a:endParaRPr lang="he-IL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644521272"/>
                  </a:ext>
                </a:extLst>
              </a:tr>
              <a:tr h="195895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R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R13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he-IL" sz="1100" u="none" strike="noStrike">
                          <a:effectLst/>
                        </a:rPr>
                        <a:t>0.19</a:t>
                      </a:r>
                      <a:endParaRPr lang="he-IL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he-IL" sz="1100" u="none" strike="noStrike">
                          <a:effectLst/>
                        </a:rPr>
                        <a:t>0.03</a:t>
                      </a:r>
                      <a:endParaRPr lang="he-IL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he-IL" sz="1100" u="none" strike="noStrike">
                          <a:effectLst/>
                        </a:rPr>
                        <a:t>0.3898</a:t>
                      </a:r>
                      <a:endParaRPr lang="he-IL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he-IL" sz="1100" u="none" strike="noStrike">
                          <a:effectLst/>
                        </a:rPr>
                        <a:t>0.0959</a:t>
                      </a:r>
                      <a:endParaRPr lang="he-IL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he-IL" sz="1100" u="none" strike="noStrike">
                          <a:effectLst/>
                        </a:rPr>
                        <a:t>0.024</a:t>
                      </a:r>
                      <a:endParaRPr lang="he-IL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he-IL" sz="1100" u="none" strike="noStrike">
                          <a:effectLst/>
                        </a:rPr>
                        <a:t>0.366</a:t>
                      </a:r>
                      <a:endParaRPr lang="he-IL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747185780"/>
                  </a:ext>
                </a:extLst>
              </a:tr>
              <a:tr h="195895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R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R14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he-IL" sz="1100" u="none" strike="noStrike">
                          <a:effectLst/>
                        </a:rPr>
                        <a:t>0.25</a:t>
                      </a:r>
                      <a:endParaRPr lang="he-IL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he-IL" sz="1100" u="none" strike="noStrike">
                          <a:effectLst/>
                        </a:rPr>
                        <a:t>0.03</a:t>
                      </a:r>
                      <a:endParaRPr lang="he-IL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he-IL" sz="1100" u="none" strike="noStrike">
                          <a:effectLst/>
                        </a:rPr>
                        <a:t>0.3802</a:t>
                      </a:r>
                      <a:endParaRPr lang="he-IL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he-IL" sz="1100" u="none" strike="noStrike">
                          <a:effectLst/>
                        </a:rPr>
                        <a:t>0.1018</a:t>
                      </a:r>
                      <a:endParaRPr lang="he-IL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he-IL" sz="1100" u="none" strike="noStrike">
                          <a:effectLst/>
                        </a:rPr>
                        <a:t>0.025</a:t>
                      </a:r>
                      <a:endParaRPr lang="he-IL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he-IL" sz="1100" u="none" strike="noStrike">
                          <a:effectLst/>
                        </a:rPr>
                        <a:t>0.355</a:t>
                      </a:r>
                      <a:endParaRPr lang="he-IL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2605615134"/>
                  </a:ext>
                </a:extLst>
              </a:tr>
              <a:tr h="195895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R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R15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he-IL" sz="1100" u="none" strike="noStrike">
                          <a:effectLst/>
                        </a:rPr>
                        <a:t>0.18</a:t>
                      </a:r>
                      <a:endParaRPr lang="he-IL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he-IL" sz="1100" u="none" strike="noStrike">
                          <a:effectLst/>
                        </a:rPr>
                        <a:t>0.03</a:t>
                      </a:r>
                      <a:endParaRPr lang="he-IL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he-IL" sz="1100" u="none" strike="noStrike">
                          <a:effectLst/>
                        </a:rPr>
                        <a:t>0.3379</a:t>
                      </a:r>
                      <a:endParaRPr lang="he-IL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he-IL" sz="1100" u="none" strike="noStrike">
                          <a:effectLst/>
                        </a:rPr>
                        <a:t>0.0978</a:t>
                      </a:r>
                      <a:endParaRPr lang="he-IL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he-IL" sz="1100" u="none" strike="noStrike">
                          <a:effectLst/>
                        </a:rPr>
                        <a:t>0.024</a:t>
                      </a:r>
                      <a:endParaRPr lang="he-IL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he-IL" sz="1100" u="none" strike="noStrike">
                          <a:effectLst/>
                        </a:rPr>
                        <a:t>0.313</a:t>
                      </a:r>
                      <a:endParaRPr lang="he-IL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3545544512"/>
                  </a:ext>
                </a:extLst>
              </a:tr>
              <a:tr h="195895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G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G1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he-IL" sz="1100" u="none" strike="noStrike">
                          <a:effectLst/>
                        </a:rPr>
                        <a:t>0.3</a:t>
                      </a:r>
                      <a:endParaRPr lang="he-IL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he-IL" sz="1100" u="none" strike="noStrike">
                          <a:effectLst/>
                        </a:rPr>
                        <a:t>0.03</a:t>
                      </a:r>
                      <a:endParaRPr lang="he-IL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he-IL" sz="1100" u="none" strike="noStrike">
                          <a:effectLst/>
                        </a:rPr>
                        <a:t>0.1833</a:t>
                      </a:r>
                      <a:endParaRPr lang="he-IL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he-IL" sz="1100" u="none" strike="noStrike">
                          <a:effectLst/>
                        </a:rPr>
                        <a:t>0.0969</a:t>
                      </a:r>
                      <a:endParaRPr lang="he-IL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he-IL" sz="1100" u="none" strike="noStrike">
                          <a:effectLst/>
                        </a:rPr>
                        <a:t>0.024</a:t>
                      </a:r>
                      <a:endParaRPr lang="he-IL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he-IL" sz="1100" u="none" strike="noStrike" dirty="0">
                          <a:effectLst/>
                        </a:rPr>
                        <a:t>0.159</a:t>
                      </a:r>
                      <a:endParaRPr lang="he-IL" sz="11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2006748194"/>
                  </a:ext>
                </a:extLst>
              </a:tr>
            </a:tbl>
          </a:graphicData>
        </a:graphic>
      </p:graphicFrame>
      <p:pic>
        <p:nvPicPr>
          <p:cNvPr id="7" name="Picture 6">
            <a:extLst>
              <a:ext uri="{FF2B5EF4-FFF2-40B4-BE49-F238E27FC236}">
                <a16:creationId xmlns:a16="http://schemas.microsoft.com/office/drawing/2014/main" id="{A2D47F7C-7651-49E0-9FD0-38467399C0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218" y="4772787"/>
            <a:ext cx="4826020" cy="11941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12082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725AE4-617B-4134-A1B5-2F2EDCF409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Linear Regression Plot</a:t>
            </a:r>
            <a:endParaRPr lang="he-IL" dirty="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CA29C320-9906-4DB2-BB37-3C4C46559F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63751" y="1690688"/>
            <a:ext cx="5400675" cy="43148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299053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725AE4-617B-4134-A1B5-2F2EDCF409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Linear Regression Plot</a:t>
            </a:r>
            <a:endParaRPr lang="he-IL" dirty="0"/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C67E0807-2717-43CE-BB64-64994D6D7C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95110" y="1547253"/>
            <a:ext cx="5400675" cy="43148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C2FE2F33-EC5E-444E-AEF5-18A7016767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8350" y="3892084"/>
            <a:ext cx="5028050" cy="74716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067808B-08A0-4CB4-B517-7D22599BEB3A}"/>
              </a:ext>
            </a:extLst>
          </p:cNvPr>
          <p:cNvSpPr txBox="1"/>
          <p:nvPr/>
        </p:nvSpPr>
        <p:spPr>
          <a:xfrm>
            <a:off x="974911" y="2468220"/>
            <a:ext cx="3260123" cy="646331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rtlCol="1">
            <a:spAutoFit/>
          </a:bodyPr>
          <a:lstStyle/>
          <a:p>
            <a:r>
              <a:rPr lang="en-US" dirty="0"/>
              <a:t>Excluding R6 from the </a:t>
            </a:r>
            <a:r>
              <a:rPr lang="en-US" dirty="0" err="1"/>
              <a:t>dataframe</a:t>
            </a:r>
            <a:endParaRPr lang="en-US" dirty="0"/>
          </a:p>
          <a:p>
            <a:r>
              <a:rPr lang="en-US" dirty="0"/>
              <a:t>Conclude in better results </a:t>
            </a:r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23801475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>
            <a:extLst>
              <a:ext uri="{FF2B5EF4-FFF2-40B4-BE49-F238E27FC236}">
                <a16:creationId xmlns:a16="http://schemas.microsoft.com/office/drawing/2014/main" id="{F65C50A0-7D3B-4B41-A47C-7FA424BE7C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06689" y="189100"/>
            <a:ext cx="7810500" cy="56864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D2CFC900-2937-45B9-863D-5F3382C27133}"/>
              </a:ext>
            </a:extLst>
          </p:cNvPr>
          <p:cNvSpPr txBox="1"/>
          <p:nvPr/>
        </p:nvSpPr>
        <p:spPr>
          <a:xfrm>
            <a:off x="342899" y="1026031"/>
            <a:ext cx="3112995" cy="2400657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1000" noProof="1">
                <a:solidFill>
                  <a:srgbClr val="000000"/>
                </a:solidFill>
                <a:latin typeface="Courier New" panose="02070309020205020404" pitchFamily="49" charset="0"/>
              </a:rPr>
              <a:t>ds_name</a:t>
            </a:r>
            <a:r>
              <a:rPr lang="en-US" sz="1000" b="1" noProof="1">
                <a:solidFill>
                  <a:srgbClr val="000080"/>
                </a:solidFill>
                <a:latin typeface="Courier New" panose="02070309020205020404" pitchFamily="49" charset="0"/>
              </a:rPr>
              <a:t>=</a:t>
            </a:r>
            <a:r>
              <a:rPr lang="en-US" sz="1000" noProof="1">
                <a:solidFill>
                  <a:srgbClr val="808080"/>
                </a:solidFill>
                <a:latin typeface="Courier New" panose="02070309020205020404" pitchFamily="49" charset="0"/>
              </a:rPr>
              <a:t>'complete_ds_of_Anthocyanin_BENI_ATAROT_2025-12-05_1765460817.5458224.csv'</a:t>
            </a:r>
            <a:r>
              <a:rPr lang="en-US" sz="1000" noProof="1">
                <a:solidFill>
                  <a:srgbClr val="000000"/>
                </a:solidFill>
                <a:latin typeface="Courier New" panose="02070309020205020404" pitchFamily="49" charset="0"/>
              </a:rPr>
              <a:t> ml</a:t>
            </a:r>
            <a:r>
              <a:rPr lang="en-US" sz="1000" b="1" noProof="1">
                <a:solidFill>
                  <a:srgbClr val="000080"/>
                </a:solidFill>
                <a:latin typeface="Courier New" panose="02070309020205020404" pitchFamily="49" charset="0"/>
              </a:rPr>
              <a:t>=</a:t>
            </a:r>
            <a:r>
              <a:rPr lang="en-US" sz="1000" noProof="1">
                <a:solidFill>
                  <a:srgbClr val="000000"/>
                </a:solidFill>
                <a:latin typeface="Courier New" panose="02070309020205020404" pitchFamily="49" charset="0"/>
              </a:rPr>
              <a:t>training</a:t>
            </a:r>
            <a:r>
              <a:rPr lang="en-US" sz="1000" b="1" noProof="1">
                <a:solidFill>
                  <a:srgbClr val="000080"/>
                </a:solidFill>
                <a:latin typeface="Courier New" panose="02070309020205020404" pitchFamily="49" charset="0"/>
              </a:rPr>
              <a:t>.</a:t>
            </a:r>
            <a:r>
              <a:rPr lang="en-US" sz="1000" i="1" noProof="1">
                <a:solidFill>
                  <a:srgbClr val="FF8000"/>
                </a:solidFill>
                <a:latin typeface="Courier New" panose="02070309020205020404" pitchFamily="49" charset="0"/>
              </a:rPr>
              <a:t>training</a:t>
            </a:r>
            <a:r>
              <a:rPr lang="en-US" sz="1000" b="1" noProof="1">
                <a:solidFill>
                  <a:srgbClr val="000080"/>
                </a:solidFill>
                <a:latin typeface="Courier New" panose="02070309020205020404" pitchFamily="49" charset="0"/>
              </a:rPr>
              <a:t>(</a:t>
            </a:r>
            <a:r>
              <a:rPr lang="en-US" sz="1000" noProof="1">
                <a:solidFill>
                  <a:srgbClr val="000000"/>
                </a:solidFill>
                <a:latin typeface="Courier New" panose="02070309020205020404" pitchFamily="49" charset="0"/>
              </a:rPr>
              <a:t>dataset_name</a:t>
            </a:r>
            <a:r>
              <a:rPr lang="en-US" sz="1000" b="1" noProof="1">
                <a:solidFill>
                  <a:srgbClr val="000080"/>
                </a:solidFill>
                <a:latin typeface="Courier New" panose="02070309020205020404" pitchFamily="49" charset="0"/>
              </a:rPr>
              <a:t>=</a:t>
            </a:r>
            <a:r>
              <a:rPr lang="en-US" sz="1000" noProof="1">
                <a:solidFill>
                  <a:srgbClr val="000000"/>
                </a:solidFill>
                <a:latin typeface="Courier New" panose="02070309020205020404" pitchFamily="49" charset="0"/>
              </a:rPr>
              <a:t>ds_name</a:t>
            </a:r>
            <a:r>
              <a:rPr lang="en-US" sz="1000" b="1" noProof="1">
                <a:solidFill>
                  <a:srgbClr val="000080"/>
                </a:solidFill>
                <a:latin typeface="Courier New" panose="02070309020205020404" pitchFamily="49" charset="0"/>
              </a:rPr>
              <a:t>)</a:t>
            </a:r>
            <a:r>
              <a:rPr lang="en-US" sz="1000" noProof="1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1000" b="1" noProof="1">
                <a:solidFill>
                  <a:srgbClr val="880088"/>
                </a:solidFill>
                <a:latin typeface="Courier New" panose="02070309020205020404" pitchFamily="49" charset="0"/>
              </a:rPr>
              <a:t>print</a:t>
            </a:r>
            <a:r>
              <a:rPr lang="en-US" sz="1000" b="1" noProof="1">
                <a:solidFill>
                  <a:srgbClr val="000080"/>
                </a:solidFill>
                <a:latin typeface="Courier New" panose="02070309020205020404" pitchFamily="49" charset="0"/>
              </a:rPr>
              <a:t>(</a:t>
            </a:r>
            <a:r>
              <a:rPr lang="en-US" sz="1000" noProof="1">
                <a:solidFill>
                  <a:srgbClr val="000000"/>
                </a:solidFill>
                <a:latin typeface="Courier New" panose="02070309020205020404" pitchFamily="49" charset="0"/>
              </a:rPr>
              <a:t>ml</a:t>
            </a:r>
            <a:r>
              <a:rPr lang="en-US" sz="1000" b="1" noProof="1">
                <a:solidFill>
                  <a:srgbClr val="000080"/>
                </a:solidFill>
                <a:latin typeface="Courier New" panose="02070309020205020404" pitchFamily="49" charset="0"/>
              </a:rPr>
              <a:t>.</a:t>
            </a:r>
            <a:r>
              <a:rPr lang="en-US" sz="1000" i="1" noProof="1">
                <a:solidFill>
                  <a:srgbClr val="FF8000"/>
                </a:solidFill>
                <a:latin typeface="Courier New" panose="02070309020205020404" pitchFamily="49" charset="0"/>
              </a:rPr>
              <a:t>df</a:t>
            </a:r>
            <a:r>
              <a:rPr lang="en-US" sz="1000" b="1" noProof="1">
                <a:solidFill>
                  <a:srgbClr val="000080"/>
                </a:solidFill>
                <a:latin typeface="Courier New" panose="02070309020205020404" pitchFamily="49" charset="0"/>
              </a:rPr>
              <a:t>.</a:t>
            </a:r>
            <a:r>
              <a:rPr lang="en-US" sz="1000" i="1" noProof="1">
                <a:solidFill>
                  <a:srgbClr val="FF8000"/>
                </a:solidFill>
                <a:latin typeface="Courier New" panose="02070309020205020404" pitchFamily="49" charset="0"/>
              </a:rPr>
              <a:t>shape</a:t>
            </a:r>
            <a:r>
              <a:rPr lang="en-US" sz="1000" b="1" noProof="1">
                <a:solidFill>
                  <a:srgbClr val="000080"/>
                </a:solidFill>
                <a:latin typeface="Courier New" panose="02070309020205020404" pitchFamily="49" charset="0"/>
              </a:rPr>
              <a:t>)</a:t>
            </a:r>
            <a:r>
              <a:rPr lang="en-US" sz="1000" noProof="1">
                <a:solidFill>
                  <a:srgbClr val="000000"/>
                </a:solidFill>
                <a:latin typeface="Courier New" panose="02070309020205020404" pitchFamily="49" charset="0"/>
              </a:rPr>
              <a:t> trainable_features</a:t>
            </a:r>
            <a:r>
              <a:rPr lang="en-US" sz="1000" b="1" noProof="1">
                <a:solidFill>
                  <a:srgbClr val="000080"/>
                </a:solidFill>
                <a:latin typeface="Courier New" panose="02070309020205020404" pitchFamily="49" charset="0"/>
              </a:rPr>
              <a:t>=[</a:t>
            </a:r>
            <a:r>
              <a:rPr lang="en-US" sz="1000" noProof="1">
                <a:solidFill>
                  <a:srgbClr val="808080"/>
                </a:solidFill>
                <a:latin typeface="Courier New" panose="02070309020205020404" pitchFamily="49" charset="0"/>
              </a:rPr>
              <a:t>'ndvi_mean'</a:t>
            </a:r>
            <a:r>
              <a:rPr lang="en-US" sz="1000" b="1" noProof="1">
                <a:solidFill>
                  <a:srgbClr val="000080"/>
                </a:solidFill>
                <a:latin typeface="Courier New" panose="02070309020205020404" pitchFamily="49" charset="0"/>
              </a:rPr>
              <a:t>,</a:t>
            </a:r>
            <a:r>
              <a:rPr lang="en-US" sz="1000" noProof="1">
                <a:solidFill>
                  <a:srgbClr val="808080"/>
                </a:solidFill>
                <a:latin typeface="Courier New" panose="02070309020205020404" pitchFamily="49" charset="0"/>
              </a:rPr>
              <a:t>'lai_mean'</a:t>
            </a:r>
            <a:r>
              <a:rPr lang="en-US" sz="1000" b="1" noProof="1">
                <a:solidFill>
                  <a:srgbClr val="000080"/>
                </a:solidFill>
                <a:latin typeface="Courier New" panose="02070309020205020404" pitchFamily="49" charset="0"/>
              </a:rPr>
              <a:t>,</a:t>
            </a:r>
            <a:r>
              <a:rPr lang="en-US" sz="1000" noProof="1">
                <a:solidFill>
                  <a:srgbClr val="808080"/>
                </a:solidFill>
                <a:latin typeface="Courier New" panose="02070309020205020404" pitchFamily="49" charset="0"/>
              </a:rPr>
              <a:t>'evi_mean'</a:t>
            </a:r>
            <a:r>
              <a:rPr lang="en-US" sz="1000" b="1" noProof="1">
                <a:solidFill>
                  <a:srgbClr val="000080"/>
                </a:solidFill>
                <a:latin typeface="Courier New" panose="02070309020205020404" pitchFamily="49" charset="0"/>
              </a:rPr>
              <a:t>,</a:t>
            </a:r>
            <a:r>
              <a:rPr lang="en-US" sz="1000" noProof="1">
                <a:solidFill>
                  <a:srgbClr val="808080"/>
                </a:solidFill>
                <a:latin typeface="Courier New" panose="02070309020205020404" pitchFamily="49" charset="0"/>
              </a:rPr>
              <a:t>'Anthocyanin’</a:t>
            </a:r>
            <a:r>
              <a:rPr lang="en-US" sz="1000" b="1" noProof="1">
                <a:solidFill>
                  <a:srgbClr val="000080"/>
                </a:solidFill>
                <a:latin typeface="Courier New" panose="02070309020205020404" pitchFamily="49" charset="0"/>
              </a:rPr>
              <a:t>]</a:t>
            </a:r>
          </a:p>
          <a:p>
            <a:r>
              <a:rPr lang="en-US" sz="1000" noProof="1">
                <a:solidFill>
                  <a:srgbClr val="000000"/>
                </a:solidFill>
                <a:latin typeface="Courier New" panose="02070309020205020404" pitchFamily="49" charset="0"/>
              </a:rPr>
              <a:t>target</a:t>
            </a:r>
            <a:r>
              <a:rPr lang="en-US" sz="1000" b="1" noProof="1">
                <a:solidFill>
                  <a:srgbClr val="000080"/>
                </a:solidFill>
                <a:latin typeface="Courier New" panose="02070309020205020404" pitchFamily="49" charset="0"/>
              </a:rPr>
              <a:t>=</a:t>
            </a:r>
            <a:r>
              <a:rPr lang="en-US" sz="1000" noProof="1">
                <a:solidFill>
                  <a:srgbClr val="808080"/>
                </a:solidFill>
                <a:latin typeface="Courier New" panose="02070309020205020404" pitchFamily="49" charset="0"/>
              </a:rPr>
              <a:t>'Anthocyanin'</a:t>
            </a:r>
            <a:r>
              <a:rPr lang="en-US" sz="1000" noProof="1">
                <a:solidFill>
                  <a:srgbClr val="000000"/>
                </a:solidFill>
                <a:latin typeface="Courier New" panose="02070309020205020404" pitchFamily="49" charset="0"/>
              </a:rPr>
              <a:t> ml</a:t>
            </a:r>
            <a:r>
              <a:rPr lang="en-US" sz="1000" b="1" noProof="1">
                <a:solidFill>
                  <a:srgbClr val="000080"/>
                </a:solidFill>
                <a:latin typeface="Courier New" panose="02070309020205020404" pitchFamily="49" charset="0"/>
              </a:rPr>
              <a:t>.</a:t>
            </a:r>
            <a:r>
              <a:rPr lang="en-US" sz="1000" i="1" noProof="1">
                <a:solidFill>
                  <a:srgbClr val="FF8000"/>
                </a:solidFill>
                <a:latin typeface="Courier New" panose="02070309020205020404" pitchFamily="49" charset="0"/>
              </a:rPr>
              <a:t>evaluate_regression_models</a:t>
            </a:r>
            <a:r>
              <a:rPr lang="en-US" sz="1000" b="1" noProof="1">
                <a:solidFill>
                  <a:srgbClr val="000080"/>
                </a:solidFill>
                <a:latin typeface="Courier New" panose="02070309020205020404" pitchFamily="49" charset="0"/>
              </a:rPr>
              <a:t>(</a:t>
            </a:r>
            <a:r>
              <a:rPr lang="en-US" sz="1000" noProof="1">
                <a:solidFill>
                  <a:srgbClr val="000000"/>
                </a:solidFill>
                <a:latin typeface="Courier New" panose="02070309020205020404" pitchFamily="49" charset="0"/>
              </a:rPr>
              <a:t>trainable_features</a:t>
            </a:r>
            <a:r>
              <a:rPr lang="en-US" sz="1000" b="1" noProof="1">
                <a:solidFill>
                  <a:srgbClr val="000080"/>
                </a:solidFill>
                <a:latin typeface="Courier New" panose="02070309020205020404" pitchFamily="49" charset="0"/>
              </a:rPr>
              <a:t>,</a:t>
            </a:r>
            <a:r>
              <a:rPr lang="en-US" sz="1000" noProof="1">
                <a:solidFill>
                  <a:srgbClr val="000000"/>
                </a:solidFill>
                <a:latin typeface="Courier New" panose="02070309020205020404" pitchFamily="49" charset="0"/>
              </a:rPr>
              <a:t>target</a:t>
            </a:r>
            <a:r>
              <a:rPr lang="en-US" sz="1000" b="1" noProof="1">
                <a:solidFill>
                  <a:srgbClr val="000080"/>
                </a:solidFill>
                <a:latin typeface="Courier New" panose="02070309020205020404" pitchFamily="49" charset="0"/>
              </a:rPr>
              <a:t>)</a:t>
            </a:r>
            <a:r>
              <a:rPr lang="en-US" sz="1000" noProof="1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</a:p>
          <a:p>
            <a:r>
              <a:rPr lang="en-US" sz="1000" noProof="1">
                <a:solidFill>
                  <a:srgbClr val="000000"/>
                </a:solidFill>
                <a:latin typeface="Courier New" panose="02070309020205020404" pitchFamily="49" charset="0"/>
              </a:rPr>
              <a:t>r2_df</a:t>
            </a:r>
            <a:r>
              <a:rPr lang="en-US" sz="1000" b="1" noProof="1">
                <a:solidFill>
                  <a:srgbClr val="000080"/>
                </a:solidFill>
                <a:latin typeface="Courier New" panose="02070309020205020404" pitchFamily="49" charset="0"/>
              </a:rPr>
              <a:t>=</a:t>
            </a:r>
            <a:r>
              <a:rPr lang="en-US" sz="1000" noProof="1">
                <a:solidFill>
                  <a:srgbClr val="000000"/>
                </a:solidFill>
                <a:latin typeface="Courier New" panose="02070309020205020404" pitchFamily="49" charset="0"/>
              </a:rPr>
              <a:t>ml</a:t>
            </a:r>
            <a:r>
              <a:rPr lang="en-US" sz="1000" b="1" noProof="1">
                <a:solidFill>
                  <a:srgbClr val="000080"/>
                </a:solidFill>
                <a:latin typeface="Courier New" panose="02070309020205020404" pitchFamily="49" charset="0"/>
              </a:rPr>
              <a:t>.</a:t>
            </a:r>
            <a:r>
              <a:rPr lang="en-US" sz="1000" i="1" noProof="1">
                <a:solidFill>
                  <a:srgbClr val="FF8000"/>
                </a:solidFill>
                <a:latin typeface="Courier New" panose="02070309020205020404" pitchFamily="49" charset="0"/>
              </a:rPr>
              <a:t>compute_r2_for_ndi_tables</a:t>
            </a:r>
            <a:r>
              <a:rPr lang="en-US" sz="1000" b="1" noProof="1">
                <a:solidFill>
                  <a:srgbClr val="000080"/>
                </a:solidFill>
                <a:latin typeface="Courier New" panose="02070309020205020404" pitchFamily="49" charset="0"/>
              </a:rPr>
              <a:t>(</a:t>
            </a:r>
            <a:r>
              <a:rPr lang="en-US" sz="1000" noProof="1">
                <a:solidFill>
                  <a:srgbClr val="000000"/>
                </a:solidFill>
                <a:latin typeface="Courier New" panose="02070309020205020404" pitchFamily="49" charset="0"/>
              </a:rPr>
              <a:t>target</a:t>
            </a:r>
            <a:r>
              <a:rPr lang="en-US" sz="1000" b="1" noProof="1">
                <a:solidFill>
                  <a:srgbClr val="000080"/>
                </a:solidFill>
                <a:latin typeface="Courier New" panose="02070309020205020404" pitchFamily="49" charset="0"/>
              </a:rPr>
              <a:t>)</a:t>
            </a:r>
            <a:r>
              <a:rPr lang="en-US" sz="1000" noProof="1">
                <a:solidFill>
                  <a:srgbClr val="000000"/>
                </a:solidFill>
                <a:latin typeface="Courier New" panose="02070309020205020404" pitchFamily="49" charset="0"/>
              </a:rPr>
              <a:t> ml</a:t>
            </a:r>
            <a:r>
              <a:rPr lang="en-US" sz="1000" b="1" noProof="1">
                <a:solidFill>
                  <a:srgbClr val="000080"/>
                </a:solidFill>
                <a:latin typeface="Courier New" panose="02070309020205020404" pitchFamily="49" charset="0"/>
              </a:rPr>
              <a:t>.</a:t>
            </a:r>
            <a:r>
              <a:rPr lang="en-US" sz="1000" i="1" noProof="1">
                <a:solidFill>
                  <a:srgbClr val="FF8000"/>
                </a:solidFill>
                <a:latin typeface="Courier New" panose="02070309020205020404" pitchFamily="49" charset="0"/>
              </a:rPr>
              <a:t>plot_heatmap_of_r2_score_of_ndi</a:t>
            </a:r>
            <a:r>
              <a:rPr lang="en-US" sz="1000" b="1" noProof="1">
                <a:solidFill>
                  <a:srgbClr val="000080"/>
                </a:solidFill>
                <a:latin typeface="Courier New" panose="02070309020205020404" pitchFamily="49" charset="0"/>
              </a:rPr>
              <a:t>()</a:t>
            </a:r>
            <a:r>
              <a:rPr lang="en-US" sz="1000" noProof="1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</a:p>
          <a:p>
            <a:r>
              <a:rPr lang="en-US" sz="1000" b="1" noProof="1">
                <a:solidFill>
                  <a:srgbClr val="880088"/>
                </a:solidFill>
                <a:latin typeface="Courier New" panose="02070309020205020404" pitchFamily="49" charset="0"/>
              </a:rPr>
              <a:t>print</a:t>
            </a:r>
            <a:r>
              <a:rPr lang="en-US" sz="1000" b="1" noProof="1">
                <a:solidFill>
                  <a:srgbClr val="000080"/>
                </a:solidFill>
                <a:latin typeface="Courier New" panose="02070309020205020404" pitchFamily="49" charset="0"/>
              </a:rPr>
              <a:t>(</a:t>
            </a:r>
            <a:r>
              <a:rPr lang="en-US" sz="1000" noProof="1">
                <a:solidFill>
                  <a:srgbClr val="000000"/>
                </a:solidFill>
                <a:latin typeface="Courier New" panose="02070309020205020404" pitchFamily="49" charset="0"/>
              </a:rPr>
              <a:t>r2_df</a:t>
            </a:r>
            <a:r>
              <a:rPr lang="en-US" sz="1000" b="1" noProof="1">
                <a:solidFill>
                  <a:srgbClr val="000080"/>
                </a:solidFill>
                <a:latin typeface="Courier New" panose="02070309020205020404" pitchFamily="49" charset="0"/>
              </a:rPr>
              <a:t>.</a:t>
            </a:r>
            <a:r>
              <a:rPr lang="en-US" sz="1000" i="1" noProof="1">
                <a:solidFill>
                  <a:srgbClr val="FF8000"/>
                </a:solidFill>
                <a:latin typeface="Courier New" panose="02070309020205020404" pitchFamily="49" charset="0"/>
              </a:rPr>
              <a:t>loc</a:t>
            </a:r>
            <a:r>
              <a:rPr lang="en-US" sz="1000" b="1" noProof="1">
                <a:solidFill>
                  <a:srgbClr val="000080"/>
                </a:solidFill>
                <a:latin typeface="Courier New" panose="02070309020205020404" pitchFamily="49" charset="0"/>
              </a:rPr>
              <a:t>[</a:t>
            </a:r>
            <a:r>
              <a:rPr lang="en-US" sz="1000" noProof="1">
                <a:solidFill>
                  <a:srgbClr val="000000"/>
                </a:solidFill>
                <a:latin typeface="Courier New" panose="02070309020205020404" pitchFamily="49" charset="0"/>
              </a:rPr>
              <a:t>row</a:t>
            </a:r>
            <a:r>
              <a:rPr lang="en-US" sz="1000" b="1" noProof="1">
                <a:solidFill>
                  <a:srgbClr val="000080"/>
                </a:solidFill>
                <a:latin typeface="Courier New" panose="02070309020205020404" pitchFamily="49" charset="0"/>
              </a:rPr>
              <a:t>,</a:t>
            </a:r>
            <a:r>
              <a:rPr lang="en-US" sz="1000" noProof="1">
                <a:solidFill>
                  <a:srgbClr val="000000"/>
                </a:solidFill>
                <a:latin typeface="Courier New" panose="02070309020205020404" pitchFamily="49" charset="0"/>
              </a:rPr>
              <a:t> col</a:t>
            </a:r>
            <a:r>
              <a:rPr lang="en-US" sz="1000" b="1" noProof="1">
                <a:solidFill>
                  <a:srgbClr val="000080"/>
                </a:solidFill>
                <a:latin typeface="Courier New" panose="02070309020205020404" pitchFamily="49" charset="0"/>
              </a:rPr>
              <a:t>])</a:t>
            </a:r>
            <a:r>
              <a:rPr lang="en-US" sz="1000" noProof="1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1000" noProof="1">
                <a:solidFill>
                  <a:srgbClr val="008000"/>
                </a:solidFill>
                <a:latin typeface="Courier New" panose="02070309020205020404" pitchFamily="49" charset="0"/>
              </a:rPr>
              <a:t>#max r2</a:t>
            </a:r>
          </a:p>
          <a:p>
            <a:r>
              <a:rPr lang="en-US" sz="1000" b="1" noProof="1">
                <a:solidFill>
                  <a:srgbClr val="880088"/>
                </a:solidFill>
                <a:latin typeface="Courier New" panose="02070309020205020404" pitchFamily="49" charset="0"/>
              </a:rPr>
              <a:t>print</a:t>
            </a:r>
            <a:r>
              <a:rPr lang="en-US" sz="1000" b="1" noProof="1">
                <a:solidFill>
                  <a:srgbClr val="000080"/>
                </a:solidFill>
                <a:latin typeface="Courier New" panose="02070309020205020404" pitchFamily="49" charset="0"/>
              </a:rPr>
              <a:t>(</a:t>
            </a:r>
            <a:r>
              <a:rPr lang="en-US" sz="1000" noProof="1">
                <a:solidFill>
                  <a:srgbClr val="000000"/>
                </a:solidFill>
                <a:latin typeface="Courier New" panose="02070309020205020404" pitchFamily="49" charset="0"/>
              </a:rPr>
              <a:t>row</a:t>
            </a:r>
            <a:r>
              <a:rPr lang="en-US" sz="1000" b="1" noProof="1">
                <a:solidFill>
                  <a:srgbClr val="000080"/>
                </a:solidFill>
                <a:latin typeface="Courier New" panose="02070309020205020404" pitchFamily="49" charset="0"/>
              </a:rPr>
              <a:t>,</a:t>
            </a:r>
            <a:r>
              <a:rPr lang="en-US" sz="1000" noProof="1">
                <a:solidFill>
                  <a:srgbClr val="000000"/>
                </a:solidFill>
                <a:latin typeface="Courier New" panose="02070309020205020404" pitchFamily="49" charset="0"/>
              </a:rPr>
              <a:t> col</a:t>
            </a:r>
            <a:r>
              <a:rPr lang="en-US" sz="1000" b="1" noProof="1">
                <a:solidFill>
                  <a:srgbClr val="000080"/>
                </a:solidFill>
                <a:latin typeface="Courier New" panose="02070309020205020404" pitchFamily="49" charset="0"/>
              </a:rPr>
              <a:t>)</a:t>
            </a:r>
            <a:r>
              <a:rPr lang="en-US" sz="1000" noProof="1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endParaRPr lang="en-US" sz="1000" noProof="1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8D8368D-CF1B-4E75-B4F8-D6A197A8C83D}"/>
              </a:ext>
            </a:extLst>
          </p:cNvPr>
          <p:cNvSpPr txBox="1"/>
          <p:nvPr/>
        </p:nvSpPr>
        <p:spPr>
          <a:xfrm>
            <a:off x="806822" y="4195483"/>
            <a:ext cx="1566583" cy="430887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altLang="he-IL" sz="1100" dirty="0">
                <a:latin typeface="menlo"/>
              </a:rPr>
              <a:t>0.905844887991963</a:t>
            </a:r>
          </a:p>
          <a:p>
            <a:r>
              <a:rPr lang="he-IL" altLang="he-IL" sz="1100" dirty="0">
                <a:latin typeface="menlo"/>
              </a:rPr>
              <a:t>507.56 583.85</a:t>
            </a:r>
            <a:endParaRPr lang="he-IL" sz="1100" dirty="0"/>
          </a:p>
        </p:txBody>
      </p:sp>
    </p:spTree>
    <p:extLst>
      <p:ext uri="{BB962C8B-B14F-4D97-AF65-F5344CB8AC3E}">
        <p14:creationId xmlns:p14="http://schemas.microsoft.com/office/powerpoint/2010/main" val="3281750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154</TotalTime>
  <Words>548</Words>
  <Application>Microsoft Office PowerPoint</Application>
  <PresentationFormat>Widescreen</PresentationFormat>
  <Paragraphs>175</Paragraphs>
  <Slides>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6" baseType="lpstr">
      <vt:lpstr>Arial</vt:lpstr>
      <vt:lpstr>Calibri</vt:lpstr>
      <vt:lpstr>Calibri Light</vt:lpstr>
      <vt:lpstr>Courier New</vt:lpstr>
      <vt:lpstr>menlo</vt:lpstr>
      <vt:lpstr>Times New Roman</vt:lpstr>
      <vt:lpstr>Office Theme</vt:lpstr>
      <vt:lpstr>Lettuces –phenotype investigation</vt:lpstr>
      <vt:lpstr>RAW DATA </vt:lpstr>
      <vt:lpstr>RAW DATA –cont. </vt:lpstr>
      <vt:lpstr>RAW DATA –cont. </vt:lpstr>
      <vt:lpstr>Hyper –parameters Dataset</vt:lpstr>
      <vt:lpstr>Reference Dataset</vt:lpstr>
      <vt:lpstr>Linear Regression Plot</vt:lpstr>
      <vt:lpstr>Linear Regression Plot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Lettuces –phenotype investigation</dc:title>
  <dc:creator>David Ben Michael</dc:creator>
  <cp:lastModifiedBy>David Ben Michael</cp:lastModifiedBy>
  <cp:revision>13</cp:revision>
  <dcterms:created xsi:type="dcterms:W3CDTF">2025-12-10T15:17:37Z</dcterms:created>
  <dcterms:modified xsi:type="dcterms:W3CDTF">2026-01-01T15:28:22Z</dcterms:modified>
</cp:coreProperties>
</file>