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0720-4F0F-4038-8A3B-C64AA2EC5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F83F2-C266-4E99-987A-4919AFFFD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56D3B-C718-4E86-AA9A-46B81B0C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FCB8-8656-42B4-A1B8-6E24C165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6398A-476F-4E02-A057-8200EF6A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4523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EFAB-14C7-4147-95AB-8FA5A304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A46C7-83DF-4F73-81CA-DDF0F0822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606EF-D44A-420D-AE08-3A6AE898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1ADF3-EE33-409D-B834-93515875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84FD9-5711-47B1-A7A3-8BE74083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274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84B1-68ED-49C2-8787-A1B8C530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4C17E-B4E3-4218-A370-C3690637B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B081E-3407-4F43-A666-1E8EB2A0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08FE4-1AD5-4512-95A9-691189B0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021A6-B961-4C77-B708-EA6FDADB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338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1609-30E3-41B4-929E-F7E7DAEC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E4BEF-0AF7-4A8D-8CC0-E901A685F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F269D-2D61-4948-A117-3234F974E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50878-D404-44FE-9023-896EDA480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8A68E-459D-4ADF-9F00-0D4379A1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A7091-9BC6-46E0-8582-189FFE9F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033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F077-4FDA-4E5B-A5E7-0FEC995B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8121B-529B-4555-B466-715B66B25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A3217-4F91-47CC-9058-E8BBD76F8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60360-360E-4B82-8F10-10177D1E0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EF9CC-5436-4F6B-88E1-0CBD1B269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6757D-8C8C-4CDB-954E-AF0454B9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01A8A-9444-4F92-9193-3D005A72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6F3D8-AAD1-4D17-A6BE-7B4283AD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084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57A3-2D3F-4744-85A8-55D056E27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71C640-D137-4834-AAE8-15056571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F971-D77E-418B-865F-46FB0DEC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59B7C-AA0D-4073-88DB-6FD09179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4070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506E0-A311-4939-97CA-D1000F97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BA199-C877-498D-8C57-E54D3C66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22554-842A-48B3-B2E0-818C7A3E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108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332A-AD0F-4CC0-B6A1-E211C9AF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A8590-EED1-4315-85BB-C96138C83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C4068-BCDE-42F7-A67C-8DE40808A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DFE8D-818D-4E8D-8DFC-2520A259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043A7-C67A-4682-9CFC-6123593B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72D1D-A078-4760-966F-CBF6C580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8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DA85-9FC7-498E-85AE-362D24EC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33586-456B-4790-AB6D-C1C545C7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D0A28-3EE3-43DD-8F43-68D80B381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51624-6668-4338-A603-A0859DFB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9D0B8-F17F-41F1-BA9B-6FBAB087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FCDF2-A933-4492-8C97-49437D77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49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CB37-6755-4F1C-8818-96AC6199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505E8-A22A-47D6-B923-A652BD783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46223-8FDC-4FD3-AD5C-86C65C70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12837-0C26-45AE-B98A-60AAB3B5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8AC8E-6C07-48B2-9C02-84804092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478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886E4-F595-48DF-92D6-55C11A0A3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D69B4-48BD-4EAF-ABFD-3717E8C13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26B55-0C47-4D71-8CE0-A8CA66A2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3220E-8D1B-497F-B607-15BA9AD57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27724-53FC-4FF2-8EEB-EDB4849A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7210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22F78-F727-40BC-9152-10E27D25C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4CF8A-6780-404C-A71F-000F11488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65DD3-45C9-4B9C-8D9B-7B0138412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3B237-7758-47AB-994E-CBADB26D0E0F}" type="datetimeFigureOut">
              <a:rPr lang="he-IL" smtClean="0"/>
              <a:t>ג'/כסלו/תשפ"ו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CDB5B-7F39-43C0-AB0F-B25C868C3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110E0-5984-42B6-A729-27BBF52A0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897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5A2A-2262-4CA8-8F8E-8146FC694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results on hyper-spectral image and thermal image from corn field on ‘</a:t>
            </a:r>
            <a:r>
              <a:rPr lang="en-US" dirty="0" err="1"/>
              <a:t>Newe</a:t>
            </a:r>
            <a:r>
              <a:rPr lang="en-US" dirty="0"/>
              <a:t> </a:t>
            </a:r>
            <a:r>
              <a:rPr lang="en-US" dirty="0" err="1"/>
              <a:t>Yaar</a:t>
            </a:r>
            <a:r>
              <a:rPr lang="en-US" dirty="0"/>
              <a:t>’ (30.09.25_ 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9B5B9-C5A2-4DF1-B062-B85E9F4D8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488" y="5121556"/>
            <a:ext cx="9144000" cy="1655762"/>
          </a:xfrm>
        </p:spPr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636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016D97-F570-4EB0-B820-4FE2AC2AA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0" y="1032061"/>
            <a:ext cx="7093323" cy="3191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348EA7-2A81-4086-8B84-BB10E5A03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61" y="4666129"/>
            <a:ext cx="10626715" cy="15296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ED3195C-A9E5-498A-BF8C-207B11EA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161" y="-22282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Dataset-preview</a:t>
            </a:r>
            <a:endParaRPr lang="he-IL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3103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7246B1B-F181-44DE-BE6A-1C93E10F6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580" y="142875"/>
            <a:ext cx="9458325" cy="657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43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F68E-2D80-4F85-90D1-F89F8F8F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Classification –task 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185F2-782E-4A96-B488-DA56DB682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four different treatments: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 Larvicide (0)</a:t>
            </a:r>
          </a:p>
          <a:p>
            <a:pPr lvl="1"/>
            <a:r>
              <a:rPr lang="en-US" dirty="0"/>
              <a:t>Larvicide +</a:t>
            </a:r>
            <a:r>
              <a:rPr lang="en-US" dirty="0" err="1"/>
              <a:t>Talstar</a:t>
            </a:r>
            <a:r>
              <a:rPr lang="en-US" dirty="0"/>
              <a:t> (1)</a:t>
            </a:r>
          </a:p>
          <a:p>
            <a:pPr lvl="1"/>
            <a:r>
              <a:rPr lang="en-US" dirty="0"/>
              <a:t>Larvicide + </a:t>
            </a:r>
            <a:r>
              <a:rPr lang="en-US" dirty="0" err="1"/>
              <a:t>Lannate</a:t>
            </a:r>
            <a:r>
              <a:rPr lang="en-US" dirty="0"/>
              <a:t> (2)</a:t>
            </a:r>
          </a:p>
          <a:p>
            <a:pPr lvl="1"/>
            <a:r>
              <a:rPr lang="en-US" dirty="0"/>
              <a:t>Larvicide +</a:t>
            </a:r>
            <a:r>
              <a:rPr lang="en-US" dirty="0" err="1"/>
              <a:t>Talstar</a:t>
            </a:r>
            <a:r>
              <a:rPr lang="en-US" dirty="0"/>
              <a:t> + </a:t>
            </a:r>
            <a:r>
              <a:rPr lang="en-US" dirty="0" err="1"/>
              <a:t>Lannate</a:t>
            </a:r>
            <a:r>
              <a:rPr lang="en-US" dirty="0"/>
              <a:t> (3)</a:t>
            </a:r>
          </a:p>
          <a:p>
            <a:pPr lvl="1"/>
            <a:endParaRPr lang="en-US" dirty="0"/>
          </a:p>
          <a:p>
            <a:r>
              <a:rPr lang="en-US" dirty="0"/>
              <a:t>The classification task is to classify the kind of treatment by vegetation indices and  thermal parameters.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06884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28CA-A9C9-4F64-8B2A-C39056C6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 1- </a:t>
            </a:r>
            <a:r>
              <a:rPr lang="en-US" sz="2800" dirty="0"/>
              <a:t>eliminate rows that some of the parameters are  null </a:t>
            </a:r>
            <a:r>
              <a:rPr lang="en-US" sz="2000" dirty="0"/>
              <a:t>(specifically focus in rows that have both hyper-spectral and thermal images)</a:t>
            </a:r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2D320-9488-4BF5-9157-E0A9782EC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876986"/>
            <a:ext cx="6800850" cy="9525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CC780B-2BAF-46FD-8C8D-127F4D3B9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137701"/>
              </p:ext>
            </p:extLst>
          </p:nvPr>
        </p:nvGraphicFramePr>
        <p:xfrm>
          <a:off x="591671" y="3015784"/>
          <a:ext cx="11113995" cy="3517277"/>
        </p:xfrm>
        <a:graphic>
          <a:graphicData uri="http://schemas.openxmlformats.org/drawingml/2006/table">
            <a:tbl>
              <a:tblPr/>
              <a:tblGrid>
                <a:gridCol w="3704665">
                  <a:extLst>
                    <a:ext uri="{9D8B030D-6E8A-4147-A177-3AD203B41FA5}">
                      <a16:colId xmlns:a16="http://schemas.microsoft.com/office/drawing/2014/main" val="2594701129"/>
                    </a:ext>
                  </a:extLst>
                </a:gridCol>
                <a:gridCol w="3704665">
                  <a:extLst>
                    <a:ext uri="{9D8B030D-6E8A-4147-A177-3AD203B41FA5}">
                      <a16:colId xmlns:a16="http://schemas.microsoft.com/office/drawing/2014/main" val="1907789135"/>
                    </a:ext>
                  </a:extLst>
                </a:gridCol>
                <a:gridCol w="3704665">
                  <a:extLst>
                    <a:ext uri="{9D8B030D-6E8A-4147-A177-3AD203B41FA5}">
                      <a16:colId xmlns:a16="http://schemas.microsoft.com/office/drawing/2014/main" val="3434799209"/>
                    </a:ext>
                  </a:extLst>
                </a:gridCol>
              </a:tblGrid>
              <a:tr h="309631">
                <a:tc>
                  <a:txBody>
                    <a:bodyPr/>
                    <a:lstStyle/>
                    <a:p>
                      <a:pPr algn="l" rtl="1" fontAlgn="ctr"/>
                      <a:endParaRPr lang="he-IL" b="1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235439"/>
                  </a:ext>
                </a:extLst>
              </a:tr>
              <a:tr h="309631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LogisticRegression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dirty="0">
                          <a:effectLst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394391"/>
                  </a:ext>
                </a:extLst>
              </a:tr>
              <a:tr h="774077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DecisionTreeClassifier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 dirty="0">
                          <a:effectLst/>
                        </a:rPr>
                        <a:t>0.16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>
                          <a:effectLst/>
                        </a:rPr>
                        <a:t>[hs_FVC, th_leaves_mean_temp, hs_ndvi_mean]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191106"/>
                  </a:ext>
                </a:extLst>
              </a:tr>
              <a:tr h="309631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SVC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>
                          <a:effectLst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451456"/>
                  </a:ext>
                </a:extLst>
              </a:tr>
              <a:tr h="541854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RandomForestClassifier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>
                          <a:effectLst/>
                        </a:rPr>
                        <a:t>[th_leaves_mean_temp, hs_ndvi_mean, hs_FVC]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176653"/>
                  </a:ext>
                </a:extLst>
              </a:tr>
              <a:tr h="541854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XGBClassifier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>
                          <a:effectLst/>
                        </a:rPr>
                        <a:t>[th_leaves_mean_temp, hs_ndvi_mean, hs_FVC]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255990"/>
                  </a:ext>
                </a:extLst>
              </a:tr>
              <a:tr h="309631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GaussianNB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dirty="0">
                          <a:effectLst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562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85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28CA-A9C9-4F64-8B2A-C39056C6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 2- </a:t>
            </a:r>
            <a:r>
              <a:rPr lang="en-US" sz="2800" dirty="0"/>
              <a:t>eliminate columns that some of the parameters are  null </a:t>
            </a:r>
            <a:r>
              <a:rPr lang="en-US" sz="2000" dirty="0"/>
              <a:t>(specifically focus on hyper-spectral images)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BDCE39-C543-4B55-A3EE-8798477BC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1690688"/>
            <a:ext cx="6905625" cy="12763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CE7722-1A2E-42B8-8D10-271D4D0A7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768359"/>
              </p:ext>
            </p:extLst>
          </p:nvPr>
        </p:nvGraphicFramePr>
        <p:xfrm>
          <a:off x="838200" y="3018773"/>
          <a:ext cx="10515600" cy="3383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833433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383542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5672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1" fontAlgn="ctr"/>
                      <a:endParaRPr lang="he-IL" b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829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LogisticRegression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dirty="0">
                          <a:effectLst/>
                        </a:rP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829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DecisionTreeClassifier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>
                          <a:effectLst/>
                        </a:rPr>
                        <a:t>[hs_FVC, hs_gndvi_mean, hs_ndvi_mean]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2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SVC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>
                          <a:effectLst/>
                        </a:rP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9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RandomForestClassifier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>
                          <a:effectLst/>
                        </a:rPr>
                        <a:t>[hs_FVC, hs_evi_mean, hs_ndvi_mean]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947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XGBClassifier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>
                          <a:effectLst/>
                        </a:rPr>
                        <a:t>[hs_FVC, hs_gndvi_mean, hs_lai_mean]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5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b="1">
                          <a:effectLst/>
                        </a:rPr>
                        <a:t>GaussianNB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he-IL">
                          <a:effectLst/>
                        </a:rPr>
                        <a:t>0.26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en-US" dirty="0">
                          <a:effectLst/>
                        </a:rP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310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442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6AF5-4DC9-4DBF-B0CE-E4CBCB49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Regression task</a:t>
            </a:r>
            <a:endParaRPr lang="he-IL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BCE44C-EFD1-4F28-93AC-184CD956F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06" y="1896408"/>
            <a:ext cx="9883308" cy="350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11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257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Models results on hyper-spectral image and thermal image from corn field on ‘Newe Yaar’ (30.09.25_ </vt:lpstr>
      <vt:lpstr>Dataset-preview</vt:lpstr>
      <vt:lpstr>PowerPoint Presentation</vt:lpstr>
      <vt:lpstr>Classification –task </vt:lpstr>
      <vt:lpstr>Option 1- eliminate rows that some of the parameters are  null (specifically focus in rows that have both hyper-spectral and thermal images)</vt:lpstr>
      <vt:lpstr>Option 2- eliminate columns that some of the parameters are  null (specifically focus on hyper-spectral images)</vt:lpstr>
      <vt:lpstr>Regression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Ben Michael</dc:creator>
  <cp:lastModifiedBy>David Ben Michael</cp:lastModifiedBy>
  <cp:revision>15</cp:revision>
  <dcterms:created xsi:type="dcterms:W3CDTF">2025-11-10T08:38:59Z</dcterms:created>
  <dcterms:modified xsi:type="dcterms:W3CDTF">2025-11-23T09:59:15Z</dcterms:modified>
</cp:coreProperties>
</file>