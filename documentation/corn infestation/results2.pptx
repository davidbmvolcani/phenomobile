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75" r:id="rId3"/>
    <p:sldId id="276" r:id="rId4"/>
    <p:sldId id="278" r:id="rId5"/>
    <p:sldId id="259" r:id="rId6"/>
    <p:sldId id="261" r:id="rId7"/>
    <p:sldId id="262" r:id="rId8"/>
    <p:sldId id="263" r:id="rId9"/>
    <p:sldId id="264" r:id="rId10"/>
    <p:sldId id="267" r:id="rId11"/>
    <p:sldId id="269" r:id="rId12"/>
    <p:sldId id="265" r:id="rId13"/>
    <p:sldId id="266" r:id="rId14"/>
    <p:sldId id="270" r:id="rId15"/>
    <p:sldId id="273" r:id="rId16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63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C0720-4F0F-4038-8A3B-C64AA2EC5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6F83F2-C266-4E99-987A-4919AFFFDC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56D3B-C718-4E86-AA9A-46B81B0C2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3B237-7758-47AB-994E-CBADB26D0E0F}" type="datetimeFigureOut">
              <a:rPr lang="he-IL" smtClean="0"/>
              <a:t>ז'/כסלו/תשפ"ו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BFCB8-8656-42B4-A1B8-6E24C165D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46398A-476F-4E02-A057-8200EF6AA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E904-FFD1-4FB4-B493-7221DFE75EE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74523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EFAB-14C7-4147-95AB-8FA5A3046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A46C7-83DF-4F73-81CA-DDF0F0822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606EF-D44A-420D-AE08-3A6AE8987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3B237-7758-47AB-994E-CBADB26D0E0F}" type="datetimeFigureOut">
              <a:rPr lang="he-IL" smtClean="0"/>
              <a:t>ז'/כסלו/תשפ"ו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1ADF3-EE33-409D-B834-93515875B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84FD9-5711-47B1-A7A3-8BE74083B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E904-FFD1-4FB4-B493-7221DFE75EE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12746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B84B1-68ED-49C2-8787-A1B8C530E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84C17E-B4E3-4218-A370-C3690637B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B081E-3407-4F43-A666-1E8EB2A08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3B237-7758-47AB-994E-CBADB26D0E0F}" type="datetimeFigureOut">
              <a:rPr lang="he-IL" smtClean="0"/>
              <a:t>ז'/כסלו/תשפ"ו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08FE4-1AD5-4512-95A9-691189B09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021A6-B961-4C77-B708-EA6FDADB9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E904-FFD1-4FB4-B493-7221DFE75EE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43385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11609-30E3-41B4-929E-F7E7DAECE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E4BEF-0AF7-4A8D-8CC0-E901A685F1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5F269D-2D61-4948-A117-3234F974E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C50878-D404-44FE-9023-896EDA480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3B237-7758-47AB-994E-CBADB26D0E0F}" type="datetimeFigureOut">
              <a:rPr lang="he-IL" smtClean="0"/>
              <a:t>ז'/כסלו/תשפ"ו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88A68E-459D-4ADF-9F00-0D4379A1A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1A7091-9BC6-46E0-8582-189FFE9F2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E904-FFD1-4FB4-B493-7221DFE75EE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30333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3F077-4FDA-4E5B-A5E7-0FEC995B6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98121B-529B-4555-B466-715B66B25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2A3217-4F91-47CC-9058-E8BBD76F87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F60360-360E-4B82-8F10-10177D1E00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6EF9CC-5436-4F6B-88E1-0CBD1B269E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A6757D-8C8C-4CDB-954E-AF0454B9F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3B237-7758-47AB-994E-CBADB26D0E0F}" type="datetimeFigureOut">
              <a:rPr lang="he-IL" smtClean="0"/>
              <a:t>ז'/כסלו/תשפ"ו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E01A8A-9444-4F92-9193-3D005A72B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46F3D8-AAD1-4D17-A6BE-7B4283AD8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E904-FFD1-4FB4-B493-7221DFE75EE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0084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D57A3-2D3F-4744-85A8-55D056E27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71C640-D137-4834-AAE8-150565713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3B237-7758-47AB-994E-CBADB26D0E0F}" type="datetimeFigureOut">
              <a:rPr lang="he-IL" smtClean="0"/>
              <a:t>ז'/כסלו/תשפ"ו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78F971-D77E-418B-865F-46FB0DEC5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459B7C-AA0D-4073-88DB-6FD091793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E904-FFD1-4FB4-B493-7221DFE75EE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44070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1506E0-A311-4939-97CA-D1000F973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3B237-7758-47AB-994E-CBADB26D0E0F}" type="datetimeFigureOut">
              <a:rPr lang="he-IL" smtClean="0"/>
              <a:t>ז'/כסלו/תשפ"ו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FBA199-C877-498D-8C57-E54D3C662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A22554-842A-48B3-B2E0-818C7A3E5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E904-FFD1-4FB4-B493-7221DFE75EE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21084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3332A-AD0F-4CC0-B6A1-E211C9AF5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A8590-EED1-4315-85BB-C96138C83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4C4068-BCDE-42F7-A67C-8DE40808A0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EDFE8D-818D-4E8D-8DFC-2520A259F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3B237-7758-47AB-994E-CBADB26D0E0F}" type="datetimeFigureOut">
              <a:rPr lang="he-IL" smtClean="0"/>
              <a:t>ז'/כסלו/תשפ"ו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D043A7-C67A-4682-9CFC-6123593B5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A72D1D-A078-4760-966F-CBF6C5808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E904-FFD1-4FB4-B493-7221DFE75EE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0840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CDA85-9FC7-498E-85AE-362D24ECE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933586-456B-4790-AB6D-C1C545C71B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ED0A28-3EE3-43DD-8F43-68D80B3816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951624-6668-4338-A603-A0859DFB1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3B237-7758-47AB-994E-CBADB26D0E0F}" type="datetimeFigureOut">
              <a:rPr lang="he-IL" smtClean="0"/>
              <a:t>ז'/כסלו/תשפ"ו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49D0B8-F17F-41F1-BA9B-6FBAB087C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5FCDF2-A933-4492-8C97-49437D777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E904-FFD1-4FB4-B493-7221DFE75EE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3493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9CB37-6755-4F1C-8818-96AC61993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A505E8-A22A-47D6-B923-A652BD7834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146223-8FDC-4FD3-AD5C-86C65C70F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3B237-7758-47AB-994E-CBADB26D0E0F}" type="datetimeFigureOut">
              <a:rPr lang="he-IL" smtClean="0"/>
              <a:t>ז'/כסלו/תשפ"ו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12837-0C26-45AE-B98A-60AAB3B56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8AC8E-6C07-48B2-9C02-848040920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E904-FFD1-4FB4-B493-7221DFE75EE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24785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E886E4-F595-48DF-92D6-55C11A0A3F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5D69B4-48BD-4EAF-ABFD-3717E8C13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26B55-0C47-4D71-8CE0-A8CA66A2B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53B237-7758-47AB-994E-CBADB26D0E0F}" type="datetimeFigureOut">
              <a:rPr lang="he-IL" smtClean="0"/>
              <a:t>ז'/כסלו/תשפ"ו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3220E-8D1B-497F-B607-15BA9AD57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27724-53FC-4FF2-8EEB-EDB4849A0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EE904-FFD1-4FB4-B493-7221DFE75EE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72108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D22F78-F727-40BC-9152-10E27D25C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24CF8A-6780-404C-A71F-000F114888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65DD3-45C9-4B9C-8D9B-7B0138412A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53B237-7758-47AB-994E-CBADB26D0E0F}" type="datetimeFigureOut">
              <a:rPr lang="he-IL" smtClean="0"/>
              <a:t>ז'/כסלו/תשפ"ו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CDB5B-7F39-43C0-AB0F-B25C868C35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110E0-5984-42B6-A729-27BBF52A0D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2EE904-FFD1-4FB4-B493-7221DFE75EE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78974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35A2A-2262-4CA8-8F8E-8146FC6945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Models results on hyper-spectral image and thermal image from corn field on ‘</a:t>
            </a:r>
            <a:r>
              <a:rPr lang="en-US" dirty="0" err="1"/>
              <a:t>Newe</a:t>
            </a:r>
            <a:r>
              <a:rPr lang="en-US" dirty="0"/>
              <a:t> </a:t>
            </a:r>
            <a:r>
              <a:rPr lang="en-US" dirty="0" err="1"/>
              <a:t>Yaar</a:t>
            </a:r>
            <a:r>
              <a:rPr lang="en-US" dirty="0"/>
              <a:t>’ (30.09.25_ 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856362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684FF-D29B-456F-BAAF-951547721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The reference dataset (The corn dataset)</a:t>
            </a:r>
            <a:endParaRPr lang="he-IL" sz="3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78F000-E38F-4C5D-A86E-12E284625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417" y="1639968"/>
            <a:ext cx="5051612" cy="40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022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B76FF-E9E3-4C4D-B103-3BAA97C81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dataset – correlation between treatment and amount of infestation </a:t>
            </a:r>
            <a:endParaRPr lang="he-IL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C30CD9D-1EA4-4F93-B9A2-E6EB01FCEA7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2982" y="2054694"/>
            <a:ext cx="3264414" cy="3557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052B8B7-CE98-4F80-B5F5-8476169C0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96822"/>
            <a:ext cx="4549307" cy="19765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F22EAC-3902-4C77-B341-96448C1DB1FE}"/>
              </a:ext>
            </a:extLst>
          </p:cNvPr>
          <p:cNvSpPr txBox="1"/>
          <p:nvPr/>
        </p:nvSpPr>
        <p:spPr>
          <a:xfrm>
            <a:off x="6333565" y="4450976"/>
            <a:ext cx="3953435" cy="147732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The conclusion from this template is there are no distinct </a:t>
            </a:r>
          </a:p>
          <a:p>
            <a:r>
              <a:rPr lang="en-US" dirty="0"/>
              <a:t>Difference between the kind of the treatment to the </a:t>
            </a:r>
          </a:p>
          <a:p>
            <a:r>
              <a:rPr lang="en-US" dirty="0"/>
              <a:t>Infestation rate.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567842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F97AA-8B04-45FE-A519-DDE55D1E5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images metrics dataset</a:t>
            </a:r>
            <a:endParaRPr lang="he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255774-B4EB-4C50-B09E-83E1CFFA8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688" y="1428158"/>
            <a:ext cx="3966883" cy="506471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AB35C2-2C9C-4B9D-B578-B9FA7BDEB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2477" y="2029965"/>
            <a:ext cx="5890932" cy="417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9731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D3195C-A9E5-498A-BF8C-207B11EA2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161" y="-22282"/>
            <a:ext cx="10515600" cy="1325563"/>
          </a:xfrm>
        </p:spPr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Merges datasets –option 1</a:t>
            </a:r>
            <a:endParaRPr lang="he-IL" dirty="0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A6E4E6-D502-4409-B0EE-5C4E89392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014" y="1411033"/>
            <a:ext cx="7752229" cy="30364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7C4F76-D9EB-4E9A-9254-4C1DC3876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4530" y="4994218"/>
            <a:ext cx="8801100" cy="155757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C72AAD0-4E45-495D-A69B-8AB741966341}"/>
              </a:ext>
            </a:extLst>
          </p:cNvPr>
          <p:cNvSpPr/>
          <p:nvPr/>
        </p:nvSpPr>
        <p:spPr>
          <a:xfrm>
            <a:off x="378758" y="1704236"/>
            <a:ext cx="245184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We join the reference dataset and the images dataset by plot number.</a:t>
            </a:r>
          </a:p>
          <a:p>
            <a:r>
              <a:rPr lang="en-US" sz="2400" dirty="0"/>
              <a:t> the new merged dataset called : NeweYaar__20250930_full_2025-11-23 10</a:t>
            </a:r>
            <a:endParaRPr lang="he-IL" sz="2400" dirty="0"/>
          </a:p>
        </p:txBody>
      </p:sp>
    </p:spTree>
    <p:extLst>
      <p:ext uri="{BB962C8B-B14F-4D97-AF65-F5344CB8AC3E}">
        <p14:creationId xmlns:p14="http://schemas.microsoft.com/office/powerpoint/2010/main" val="3631034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9F68E-2D80-4F85-90D1-F89F8F8F6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Classification –task </a:t>
            </a:r>
            <a:endParaRPr lang="he-IL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185F2-782E-4A96-B488-DA56DB682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Binary classification of the Infestation of the leaves</a:t>
            </a:r>
          </a:p>
          <a:p>
            <a:pPr lvl="1"/>
            <a:r>
              <a:rPr lang="en-US" dirty="0"/>
              <a:t> not infested (0)</a:t>
            </a:r>
          </a:p>
          <a:p>
            <a:pPr lvl="1"/>
            <a:r>
              <a:rPr lang="en-US" dirty="0"/>
              <a:t> infested (1)</a:t>
            </a:r>
          </a:p>
          <a:p>
            <a:pPr lvl="1"/>
            <a:endParaRPr lang="en-US" dirty="0"/>
          </a:p>
          <a:p>
            <a:r>
              <a:rPr lang="en-US" dirty="0"/>
              <a:t>The classification task is to classify the kind of treatment by vegetation indices and  thermal parameters.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6068843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B28CA-A9C9-4F64-8B2A-C39056C6D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Option 1- </a:t>
            </a:r>
            <a:r>
              <a:rPr lang="en-US" sz="2800" dirty="0"/>
              <a:t>eliminate rows that some of the parameters are  null </a:t>
            </a:r>
            <a:r>
              <a:rPr lang="en-US" sz="2000" dirty="0"/>
              <a:t>(specifically focus in rows that have both hyper-spectral and thermal images)</a:t>
            </a:r>
            <a:endParaRPr lang="he-I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2EBBCF-4CCC-43EE-89B9-DC5C81058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15784"/>
            <a:ext cx="8639736" cy="36100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55C2BA-2039-4CF0-8E79-7742FAA2B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794" y="1606084"/>
            <a:ext cx="6962775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858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B28CA-A9C9-4F64-8B2A-C39056C6D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Option 2- </a:t>
            </a:r>
            <a:r>
              <a:rPr lang="en-US" sz="2800" dirty="0"/>
              <a:t>eliminate columns that some of the parameters are  null </a:t>
            </a:r>
            <a:r>
              <a:rPr lang="en-US" sz="2000" dirty="0"/>
              <a:t>(specifically focus on hyper-spectral images)</a:t>
            </a:r>
            <a:endParaRPr lang="he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879520-21A8-4E87-A230-0FC0EEFED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6657975" cy="12858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2B68147-56DF-4846-910A-D0DDC5186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847" y="2898574"/>
            <a:ext cx="7887260" cy="359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442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6FB2F-5089-4203-AA51-08997EB01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Original dataset is not balanced</a:t>
            </a:r>
            <a:endParaRPr lang="he-I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06BA1B-7761-4E75-8027-1A38C5B64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175" y="2086536"/>
            <a:ext cx="9572625" cy="14478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E856FD6-1A2B-4DFC-AAB3-D630FF878D43}"/>
              </a:ext>
            </a:extLst>
          </p:cNvPr>
          <p:cNvSpPr txBox="1"/>
          <p:nvPr/>
        </p:nvSpPr>
        <p:spPr>
          <a:xfrm>
            <a:off x="1385047" y="3724835"/>
            <a:ext cx="4605618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/>
              <a:t>Solution</a:t>
            </a:r>
            <a:r>
              <a:rPr lang="en-US" dirty="0"/>
              <a:t>: augment the dataset with more negative samples by SMOTE algorithm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373594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B28CA-A9C9-4F64-8B2A-C39056C6D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Option 1- </a:t>
            </a:r>
            <a:r>
              <a:rPr lang="en-US" sz="2800" dirty="0"/>
              <a:t>eliminate rows that some of the parameters are  null </a:t>
            </a:r>
            <a:r>
              <a:rPr lang="en-US" sz="2000" dirty="0"/>
              <a:t>(specifically focus in rows that have both hyper-spectral and thermal images)</a:t>
            </a:r>
            <a:endParaRPr lang="he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70E4A9-3097-4211-AE4E-EB045BB36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7" y="1912563"/>
            <a:ext cx="10487025" cy="484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404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219C1-BD76-4E9F-8BAB-5DCF07B69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851" y="571501"/>
            <a:ext cx="3162302" cy="4450976"/>
          </a:xfrm>
        </p:spPr>
        <p:txBody>
          <a:bodyPr>
            <a:normAutofit/>
          </a:bodyPr>
          <a:lstStyle/>
          <a:p>
            <a:r>
              <a:rPr lang="en-US" dirty="0"/>
              <a:t>Illustration of one of the estimators </a:t>
            </a:r>
            <a:endParaRPr lang="he-IL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4A32838-EB30-4C6F-915E-CA32C0FD5F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002" y="358588"/>
            <a:ext cx="9048750" cy="624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05032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B28CA-A9C9-4F64-8B2A-C39056C6D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Option 2- </a:t>
            </a:r>
            <a:r>
              <a:rPr lang="en-US" sz="2800" dirty="0"/>
              <a:t>eliminate columns that some of the parameters are  null </a:t>
            </a:r>
            <a:r>
              <a:rPr lang="en-US" sz="2000" dirty="0"/>
              <a:t>(specifically focus on hyper-spectral images)</a:t>
            </a:r>
            <a:endParaRPr lang="he-I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D70C4A-E321-472F-B7EC-92F98C296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155" y="1596558"/>
            <a:ext cx="8743950" cy="484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772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4707098-4A76-44C9-8778-8866A08E03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2407" y="409295"/>
            <a:ext cx="9048750" cy="624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E219C1-BD76-4E9F-8BAB-5DCF07B69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851" y="571501"/>
            <a:ext cx="3162302" cy="4450976"/>
          </a:xfrm>
        </p:spPr>
        <p:txBody>
          <a:bodyPr>
            <a:normAutofit/>
          </a:bodyPr>
          <a:lstStyle/>
          <a:p>
            <a:r>
              <a:rPr lang="en-US" dirty="0"/>
              <a:t>Illustration of one of the estimators 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1053635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DBD14-0A52-4894-8652-1B9AD5FFB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Merges datasets –option 2</a:t>
            </a:r>
            <a:endParaRPr lang="he-I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EC8A1D-DA27-44C8-BB94-193E99DBD4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805" y="3214634"/>
            <a:ext cx="8762440" cy="289593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70EA5E9-6B48-4AB4-BF98-39C7561C2437}"/>
              </a:ext>
            </a:extLst>
          </p:cNvPr>
          <p:cNvSpPr/>
          <p:nvPr/>
        </p:nvSpPr>
        <p:spPr>
          <a:xfrm>
            <a:off x="938771" y="1690688"/>
            <a:ext cx="888850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dataset below created from the merging the original reference dataset with the images-metric dataset by computing the mean of </a:t>
            </a:r>
            <a:r>
              <a:rPr lang="en-US" dirty="0" err="1"/>
              <a:t>infestation_Total_pct</a:t>
            </a:r>
            <a:r>
              <a:rPr lang="en-US" dirty="0"/>
              <a:t> for each plot. There 20 </a:t>
            </a:r>
            <a:r>
              <a:rPr lang="en-US" dirty="0" err="1"/>
              <a:t>diffrenet</a:t>
            </a:r>
            <a:r>
              <a:rPr lang="en-US" dirty="0"/>
              <a:t> plots and for each we craft 2 images (HS and Thermal) –so we average the results of two images per plot and assign it   to the this plot. The dataset name is: NeweYaar__20250930_full_2025-11-20 10 16</a:t>
            </a:r>
            <a:endParaRPr lang="he-IL" dirty="0"/>
          </a:p>
          <a:p>
            <a:r>
              <a:rPr lang="en-US" dirty="0"/>
              <a:t> 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6398330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9F68E-2D80-4F85-90D1-F89F8F8F6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ighlight>
                  <a:srgbClr val="FFFF00"/>
                </a:highlight>
              </a:rPr>
              <a:t>Regression task –task </a:t>
            </a:r>
            <a:endParaRPr lang="he-IL" dirty="0">
              <a:highlight>
                <a:srgbClr val="FFFF0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185F2-782E-4A96-B488-DA56DB682E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/>
              <a:t>The mission here is to describe the correlation between the infestation per plot and the vegetation indices.   </a:t>
            </a:r>
            <a:endParaRPr lang="he-IL" altLang="he-IL" sz="5400" dirty="0">
              <a:latin typeface="Arial" panose="020B0604020202020204" pitchFamily="34" charset="0"/>
            </a:endParaRPr>
          </a:p>
          <a:p>
            <a:pPr algn="l"/>
            <a:r>
              <a:rPr lang="en-US" sz="2400" dirty="0"/>
              <a:t> </a:t>
            </a:r>
            <a:endParaRPr lang="he-IL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7EB8B7-5C5E-492E-A686-6200ABFF2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630" y="2850744"/>
            <a:ext cx="7182970" cy="3568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58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692</TotalTime>
  <Words>355</Words>
  <Application>Microsoft Office PowerPoint</Application>
  <PresentationFormat>Widescreen</PresentationFormat>
  <Paragraphs>30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Models results on hyper-spectral image and thermal image from corn field on ‘Newe Yaar’ (30.09.25_ </vt:lpstr>
      <vt:lpstr>The reference dataset (The corn dataset)</vt:lpstr>
      <vt:lpstr>Reference dataset – correlation between treatment and amount of infestation </vt:lpstr>
      <vt:lpstr>The images metrics dataset</vt:lpstr>
      <vt:lpstr>Merges datasets –option 1</vt:lpstr>
      <vt:lpstr>Classification –task </vt:lpstr>
      <vt:lpstr>Option 1- eliminate rows that some of the parameters are  null (specifically focus in rows that have both hyper-spectral and thermal images)</vt:lpstr>
      <vt:lpstr>Option 2- eliminate columns that some of the parameters are  null (specifically focus on hyper-spectral images)</vt:lpstr>
      <vt:lpstr>Original dataset is not balanced</vt:lpstr>
      <vt:lpstr>Option 1- eliminate rows that some of the parameters are  null (specifically focus in rows that have both hyper-spectral and thermal images)</vt:lpstr>
      <vt:lpstr>Illustration of one of the estimators </vt:lpstr>
      <vt:lpstr>Option 2- eliminate columns that some of the parameters are  null (specifically focus on hyper-spectral images)</vt:lpstr>
      <vt:lpstr>Illustration of one of the estimators </vt:lpstr>
      <vt:lpstr>Merges datasets –option 2</vt:lpstr>
      <vt:lpstr>Regression task –task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Ben Michael</dc:creator>
  <cp:lastModifiedBy>David Ben Michael</cp:lastModifiedBy>
  <cp:revision>30</cp:revision>
  <dcterms:created xsi:type="dcterms:W3CDTF">2025-11-10T08:38:59Z</dcterms:created>
  <dcterms:modified xsi:type="dcterms:W3CDTF">2025-11-27T10:55:23Z</dcterms:modified>
</cp:coreProperties>
</file>